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88" r:id="rId4"/>
  </p:sldMasterIdLst>
  <p:notesMasterIdLst>
    <p:notesMasterId r:id="rId50"/>
  </p:notesMasterIdLst>
  <p:sldIdLst>
    <p:sldId id="2141411575" r:id="rId5"/>
    <p:sldId id="2147483641" r:id="rId6"/>
    <p:sldId id="2147483642" r:id="rId7"/>
    <p:sldId id="2147483643" r:id="rId8"/>
    <p:sldId id="2147483640" r:id="rId9"/>
    <p:sldId id="2147470838" r:id="rId10"/>
    <p:sldId id="2147483632" r:id="rId11"/>
    <p:sldId id="2147483633" r:id="rId12"/>
    <p:sldId id="2147470818" r:id="rId13"/>
    <p:sldId id="17263" r:id="rId14"/>
    <p:sldId id="17233" r:id="rId15"/>
    <p:sldId id="2147483638" r:id="rId16"/>
    <p:sldId id="2141411571" r:id="rId17"/>
    <p:sldId id="2141411569" r:id="rId18"/>
    <p:sldId id="1439" r:id="rId19"/>
    <p:sldId id="2147470451" r:id="rId20"/>
    <p:sldId id="17226" r:id="rId21"/>
    <p:sldId id="2147470382" r:id="rId22"/>
    <p:sldId id="2147470380" r:id="rId23"/>
    <p:sldId id="2147483644" r:id="rId24"/>
    <p:sldId id="2147483637" r:id="rId25"/>
    <p:sldId id="2147483645" r:id="rId26"/>
    <p:sldId id="2147483646" r:id="rId27"/>
    <p:sldId id="2147483639" r:id="rId28"/>
    <p:sldId id="2147470851" r:id="rId29"/>
    <p:sldId id="2147470852" r:id="rId30"/>
    <p:sldId id="2147470853" r:id="rId31"/>
    <p:sldId id="2147470854" r:id="rId32"/>
    <p:sldId id="2147470855" r:id="rId33"/>
    <p:sldId id="2147470856" r:id="rId34"/>
    <p:sldId id="2147470857" r:id="rId35"/>
    <p:sldId id="2147470858" r:id="rId36"/>
    <p:sldId id="2147470859" r:id="rId37"/>
    <p:sldId id="2147470860" r:id="rId38"/>
    <p:sldId id="2147470861" r:id="rId39"/>
    <p:sldId id="2147470862" r:id="rId40"/>
    <p:sldId id="2147470863" r:id="rId41"/>
    <p:sldId id="2147470864" r:id="rId42"/>
    <p:sldId id="2147470865" r:id="rId43"/>
    <p:sldId id="2147470866" r:id="rId44"/>
    <p:sldId id="2147470867" r:id="rId45"/>
    <p:sldId id="2147470868" r:id="rId46"/>
    <p:sldId id="2147470870" r:id="rId47"/>
    <p:sldId id="2147470871" r:id="rId48"/>
    <p:sldId id="2147470872" r:id="rId49"/>
  </p:sldIdLst>
  <p:sldSz cx="9144000" cy="5143500" type="screen16x9"/>
  <p:notesSz cx="6858000" cy="9144000"/>
  <p:embeddedFontLst>
    <p:embeddedFont>
      <p:font typeface="Exo 2.0" panose="00000500000000000000" pitchFamily="50" charset="0"/>
      <p:regular r:id="rId51"/>
      <p:bold r:id="rId52"/>
      <p:italic r:id="rId53"/>
      <p:boldItalic r:id="rId54"/>
    </p:embeddedFont>
    <p:embeddedFont>
      <p:font typeface="Exo 2.0 Light" panose="00000400000000000000" pitchFamily="50" charset="0"/>
      <p:regular r:id="rId55"/>
      <p:italic r:id="rId56"/>
    </p:embeddedFont>
    <p:embeddedFont>
      <p:font typeface="Nunito" pitchFamily="2" charset="0"/>
      <p:regular r:id="rId57"/>
      <p:bold r:id="rId58"/>
      <p:italic r:id="rId59"/>
      <p:boldItalic r:id="rId60"/>
    </p:embeddedFont>
    <p:embeddedFont>
      <p:font typeface="Nunito Black" pitchFamily="2" charset="0"/>
      <p:bold r:id="rId61"/>
      <p:boldItalic r:id="rId62"/>
    </p:embeddedFont>
    <p:embeddedFont>
      <p:font typeface="Nunito Light" pitchFamily="2" charset="0"/>
      <p:regular r:id="rId63"/>
      <p:italic r:id="rId64"/>
    </p:embeddedFont>
    <p:embeddedFont>
      <p:font typeface="Nunito Regular" pitchFamily="2" charset="0"/>
      <p:regular r:id="rId65"/>
    </p:embeddedFont>
    <p:embeddedFont>
      <p:font typeface="Titillium Web" panose="00000500000000000000" pitchFamily="2" charset="0"/>
      <p:regular r:id="rId66"/>
      <p:bold r:id="rId67"/>
    </p:embeddedFont>
  </p:embeddedFont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D02DE4A-263C-9CB5-063B-221C0073C732}" name="Cesar Bergamin Duarte" initials="CD" userId="S::duarte_cesar@sicredi.com.br::e4e16086-7f94-4d9e-bc07-a661fa0bdb77" providerId="AD"/>
  <p188:author id="{7B67A865-05CC-A24B-02B2-E391647E633A}" name="Alejandro Coll Oliver" initials="AO" userId="S::alejandro_oliver@sicredi.com.br::53c18cae-60e6-451e-ad43-31064c11af9f" providerId="AD"/>
  <p188:author id="{4E34BA79-AE97-F699-C6B9-C4452584020F}" name="Matheus da Silva Roza" initials="MR" userId="S::matheus_roza@sicredi.com.br::1b570da9-cbf0-4703-8e5a-f352bc28e5e4" providerId="AD"/>
  <p188:author id="{490E4393-9459-8555-687B-AAE0F512FACC}" name="Marcelo de Souza Lisboa" initials="ML" userId="S::marcelo_lisboa@sicredi.com.br::d488bd14-8317-41a7-af20-c85f0062bf7a" providerId="AD"/>
  <p188:author id="{A9C36EBB-D7C7-0671-39D4-C0AA05EBD0B7}" name="Andre da Rocha Trierveiler" initials="AT" userId="S::andre_trierveiler@sicredi.com.br::39e4beca-1889-4559-a573-ed05a8ea35a2" providerId="AD"/>
  <p188:author id="{7985E2D3-A2C3-103B-9335-64A319C6CF48}" name="Fernando Bastos da Silva" initials="FS" userId="S::fernando_bastos@sicredi.com.br::63e9a519-9ad9-4dbe-8b06-3d7c16cbd5b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1A6C1A"/>
    <a:srgbClr val="64C832"/>
    <a:srgbClr val="004C16"/>
    <a:srgbClr val="548235"/>
    <a:srgbClr val="0A4B1E"/>
    <a:srgbClr val="17201B"/>
    <a:srgbClr val="323C32"/>
    <a:srgbClr val="000000"/>
    <a:srgbClr val="313B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56BC6-CFE0-40CE-B9AC-40DFF4E3F153}" v="39" dt="2025-10-22T03:21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01" autoAdjust="0"/>
    <p:restoredTop sz="93305" autoAdjust="0"/>
  </p:normalViewPr>
  <p:slideViewPr>
    <p:cSldViewPr snapToGrid="0">
      <p:cViewPr varScale="1">
        <p:scale>
          <a:sx n="102" d="100"/>
          <a:sy n="102" d="100"/>
        </p:scale>
        <p:origin x="102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13.fntdata"/><Relationship Id="rId6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3.fntdata"/><Relationship Id="rId58" Type="http://schemas.openxmlformats.org/officeDocument/2006/relationships/font" Target="fonts/font8.fntdata"/><Relationship Id="rId66" Type="http://schemas.openxmlformats.org/officeDocument/2006/relationships/font" Target="fonts/font16.fntdata"/><Relationship Id="rId5" Type="http://schemas.openxmlformats.org/officeDocument/2006/relationships/slide" Target="slides/slide1.xml"/><Relationship Id="rId61" Type="http://schemas.openxmlformats.org/officeDocument/2006/relationships/font" Target="fonts/font11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6.fntdata"/><Relationship Id="rId64" Type="http://schemas.openxmlformats.org/officeDocument/2006/relationships/font" Target="fonts/font14.fntdata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1.fntdata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9.fntdata"/><Relationship Id="rId67" Type="http://schemas.openxmlformats.org/officeDocument/2006/relationships/font" Target="fonts/font17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4.fntdata"/><Relationship Id="rId62" Type="http://schemas.openxmlformats.org/officeDocument/2006/relationships/font" Target="fonts/font12.fntdata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2.fntdata"/><Relationship Id="rId60" Type="http://schemas.openxmlformats.org/officeDocument/2006/relationships/font" Target="fonts/font10.fntdata"/><Relationship Id="rId65" Type="http://schemas.openxmlformats.org/officeDocument/2006/relationships/font" Target="fonts/font15.fntdata"/><Relationship Id="rId73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5.fntdata"/><Relationship Id="rId7" Type="http://schemas.openxmlformats.org/officeDocument/2006/relationships/slide" Target="slides/slide3.xml"/><Relationship Id="rId7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EF514F-68C6-4254-B87E-B22142357029}" type="doc">
      <dgm:prSet loTypeId="urn:microsoft.com/office/officeart/2005/8/layout/cycle3" loCatId="cycle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pt-BR"/>
        </a:p>
      </dgm:t>
    </dgm:pt>
    <dgm:pt modelId="{69B90D6C-38F0-4622-A847-2765D947F379}">
      <dgm:prSet phldrT="[Texto]" custT="1"/>
      <dgm:spPr>
        <a:ln>
          <a:solidFill>
            <a:schemeClr val="tx1">
              <a:lumMod val="75000"/>
              <a:lumOff val="25000"/>
            </a:schemeClr>
          </a:solidFill>
        </a:ln>
      </dgm:spPr>
      <dgm:t>
        <a:bodyPr/>
        <a:lstStyle/>
        <a:p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PESQUISA MACRO</a:t>
          </a:r>
        </a:p>
        <a:p>
          <a:r>
            <a:rPr lang="pt-BR" sz="80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do Cenário Macroeconômico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8289D0E4-0569-437C-82CB-A63EEBC9141B}" type="parTrans" cxnId="{D7E91394-DD66-44BA-882E-7EF0725A2C39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C9471942-6474-48B5-8765-3C728CF26D55}" type="sibTrans" cxnId="{D7E91394-DD66-44BA-882E-7EF0725A2C39}">
      <dgm:prSet/>
      <dgm:spPr>
        <a:solidFill>
          <a:srgbClr val="64C832"/>
        </a:solidFill>
      </dgm:spPr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B2124966-728E-48A7-9791-2C637920351A}">
      <dgm:prSet phldrT="[Texto]" custT="1"/>
      <dgm:spPr>
        <a:ln>
          <a:solidFill>
            <a:srgbClr val="323C32"/>
          </a:solidFill>
        </a:ln>
      </dgm:spPr>
      <dgm:t>
        <a:bodyPr/>
        <a:lstStyle/>
        <a:p>
          <a:pPr>
            <a:buNone/>
          </a:pPr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 DOS MERCADOS</a:t>
          </a:r>
        </a:p>
        <a:p>
          <a:pPr>
            <a:buNone/>
          </a:pPr>
          <a:r>
            <a:rPr lang="pt-BR" sz="80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e discussão das perspectivas e prêmios para os mercados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451250F3-8DFE-4263-818F-6188BD4634E2}" type="parTrans" cxnId="{4425064D-9DEA-4581-BD57-05289E8FA0D5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F05D3DBF-2046-4113-A891-0A80660586E2}" type="sibTrans" cxnId="{4425064D-9DEA-4581-BD57-05289E8FA0D5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14B547CA-283C-4A0A-98D1-1A1D5C99ADC8}">
      <dgm:prSet phldrT="[Texto]" custT="1"/>
      <dgm:spPr>
        <a:ln>
          <a:solidFill>
            <a:srgbClr val="323C32"/>
          </a:solidFill>
        </a:ln>
      </dgm:spPr>
      <dgm:t>
        <a:bodyPr/>
        <a:lstStyle/>
        <a:p>
          <a:pPr>
            <a:buNone/>
          </a:pPr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ESTRATÉGIA</a:t>
          </a:r>
        </a:p>
        <a:p>
          <a:pPr>
            <a:buNone/>
          </a:pPr>
          <a:r>
            <a:rPr lang="pt-BR" sz="80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Definição do posicionamento</a:t>
          </a:r>
        </a:p>
        <a:p>
          <a:pPr>
            <a:buNone/>
          </a:pPr>
          <a:r>
            <a:rPr lang="pt-BR" sz="80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Estratégias/Targets/</a:t>
          </a:r>
          <a:r>
            <a:rPr lang="pt-BR" sz="800" i="1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Stops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48BF9780-E0D2-4217-86EF-DDFA8C11E84F}" type="parTrans" cxnId="{91EE2E52-B71D-416F-ACCF-A5B819846FAA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75835470-3429-45C9-A314-4E62DCE9B82C}" type="sibTrans" cxnId="{91EE2E52-B71D-416F-ACCF-A5B819846FAA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4B333F21-93B9-4EE1-8BD1-3F2FB8FF6F84}">
      <dgm:prSet phldrT="[Texto]" custT="1"/>
      <dgm:spPr>
        <a:ln>
          <a:solidFill>
            <a:srgbClr val="323C32"/>
          </a:solidFill>
        </a:ln>
      </dgm:spPr>
      <dgm:t>
        <a:bodyPr/>
        <a:lstStyle/>
        <a:p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EXECUÇÃO</a:t>
          </a:r>
        </a:p>
        <a:p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Alocação de acordo com a estratégia e timing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764585F9-048F-43AF-9C68-26DA3107735C}" type="parTrans" cxnId="{3E3926BD-208C-4127-B1BD-8367B3DBB6A5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AB409227-3E00-45C0-93F5-61209BFA3C2D}" type="sibTrans" cxnId="{3E3926BD-208C-4127-B1BD-8367B3DBB6A5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8A9CCEE2-E050-4962-B9D2-A6254AE75E83}">
      <dgm:prSet phldrT="[Texto]" custT="1"/>
      <dgm:spPr>
        <a:ln>
          <a:solidFill>
            <a:srgbClr val="323C32"/>
          </a:solidFill>
        </a:ln>
      </dgm:spPr>
      <dgm:t>
        <a:bodyPr/>
        <a:lstStyle/>
        <a:p>
          <a:r>
            <a: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MONITORAMENTO</a:t>
          </a:r>
        </a:p>
        <a:p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Controle de exposição a riscos</a:t>
          </a:r>
        </a:p>
        <a:p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Acompanhamento dos resultados</a:t>
          </a:r>
        </a:p>
        <a:p>
          <a:r>
            <a:rPr lang="pt-BR" sz="800" i="1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Stops</a:t>
          </a:r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 </a:t>
          </a:r>
          <a:r>
            <a:rPr lang="pt-BR" sz="800" i="1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gain</a:t>
          </a:r>
          <a:r>
            <a:rPr lang="pt-BR" sz="800" i="1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/</a:t>
          </a:r>
          <a:r>
            <a:rPr lang="pt-BR" sz="800" i="1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loss</a:t>
          </a:r>
          <a:endParaRPr lang="pt-BR" sz="8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9114362E-D691-4B77-8971-8C82F4968718}" type="parTrans" cxnId="{35D13866-D5F8-48F6-82D2-C4B766785147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36441F55-54C2-48B7-91AF-2D6F74379359}" type="sibTrans" cxnId="{35D13866-D5F8-48F6-82D2-C4B766785147}">
      <dgm:prSet/>
      <dgm:spPr/>
      <dgm:t>
        <a:bodyPr/>
        <a:lstStyle/>
        <a:p>
          <a:endParaRPr lang="pt-BR" sz="800">
            <a:latin typeface="Exo 2.0" panose="00000500000000000000" pitchFamily="50" charset="0"/>
          </a:endParaRPr>
        </a:p>
      </dgm:t>
    </dgm:pt>
    <dgm:pt modelId="{7A047B3C-CEA4-4FE9-ACBC-346CF031B532}" type="pres">
      <dgm:prSet presAssocID="{7AEF514F-68C6-4254-B87E-B22142357029}" presName="Name0" presStyleCnt="0">
        <dgm:presLayoutVars>
          <dgm:dir/>
          <dgm:resizeHandles val="exact"/>
        </dgm:presLayoutVars>
      </dgm:prSet>
      <dgm:spPr/>
    </dgm:pt>
    <dgm:pt modelId="{A6E1A9A2-0607-48C2-AB94-63D9AA01EA3B}" type="pres">
      <dgm:prSet presAssocID="{7AEF514F-68C6-4254-B87E-B22142357029}" presName="cycle" presStyleCnt="0"/>
      <dgm:spPr/>
    </dgm:pt>
    <dgm:pt modelId="{F89E39E0-21DD-4CCD-A2D2-A7E69E6CF767}" type="pres">
      <dgm:prSet presAssocID="{69B90D6C-38F0-4622-A847-2765D947F379}" presName="nodeFirstNode" presStyleLbl="node1" presStyleIdx="0" presStyleCnt="5" custScaleX="82945" custScaleY="84874">
        <dgm:presLayoutVars>
          <dgm:bulletEnabled val="1"/>
        </dgm:presLayoutVars>
      </dgm:prSet>
      <dgm:spPr/>
    </dgm:pt>
    <dgm:pt modelId="{BBD9B570-40AD-4FF0-907E-C5C0E55FBB0A}" type="pres">
      <dgm:prSet presAssocID="{C9471942-6474-48B5-8765-3C728CF26D55}" presName="sibTransFirstNode" presStyleLbl="bgShp" presStyleIdx="0" presStyleCnt="1"/>
      <dgm:spPr/>
    </dgm:pt>
    <dgm:pt modelId="{6D379F12-A51A-4838-8031-55CDE6F3C123}" type="pres">
      <dgm:prSet presAssocID="{B2124966-728E-48A7-9791-2C637920351A}" presName="nodeFollowingNodes" presStyleLbl="node1" presStyleIdx="1" presStyleCnt="5" custScaleX="82945" custScaleY="84874">
        <dgm:presLayoutVars>
          <dgm:bulletEnabled val="1"/>
        </dgm:presLayoutVars>
      </dgm:prSet>
      <dgm:spPr/>
    </dgm:pt>
    <dgm:pt modelId="{17D0BE3E-73F8-4C5E-A6E6-EDD799A9EFE8}" type="pres">
      <dgm:prSet presAssocID="{14B547CA-283C-4A0A-98D1-1A1D5C99ADC8}" presName="nodeFollowingNodes" presStyleLbl="node1" presStyleIdx="2" presStyleCnt="5" custScaleX="82945" custScaleY="114186">
        <dgm:presLayoutVars>
          <dgm:bulletEnabled val="1"/>
        </dgm:presLayoutVars>
      </dgm:prSet>
      <dgm:spPr/>
    </dgm:pt>
    <dgm:pt modelId="{10CE3189-8C3D-4EAC-8AB1-1BE4E58E9A69}" type="pres">
      <dgm:prSet presAssocID="{4B333F21-93B9-4EE1-8BD1-3F2FB8FF6F84}" presName="nodeFollowingNodes" presStyleLbl="node1" presStyleIdx="3" presStyleCnt="5" custScaleX="82945" custScaleY="84874">
        <dgm:presLayoutVars>
          <dgm:bulletEnabled val="1"/>
        </dgm:presLayoutVars>
      </dgm:prSet>
      <dgm:spPr/>
    </dgm:pt>
    <dgm:pt modelId="{74AEBB5A-4263-42C5-AEE1-B5E00520BBA0}" type="pres">
      <dgm:prSet presAssocID="{8A9CCEE2-E050-4962-B9D2-A6254AE75E83}" presName="nodeFollowingNodes" presStyleLbl="node1" presStyleIdx="4" presStyleCnt="5" custScaleX="82945" custScaleY="142560">
        <dgm:presLayoutVars>
          <dgm:bulletEnabled val="1"/>
        </dgm:presLayoutVars>
      </dgm:prSet>
      <dgm:spPr/>
    </dgm:pt>
  </dgm:ptLst>
  <dgm:cxnLst>
    <dgm:cxn modelId="{35D13866-D5F8-48F6-82D2-C4B766785147}" srcId="{7AEF514F-68C6-4254-B87E-B22142357029}" destId="{8A9CCEE2-E050-4962-B9D2-A6254AE75E83}" srcOrd="4" destOrd="0" parTransId="{9114362E-D691-4B77-8971-8C82F4968718}" sibTransId="{36441F55-54C2-48B7-91AF-2D6F74379359}"/>
    <dgm:cxn modelId="{F8292F4A-BBB1-4612-BD06-517509D14ADC}" type="presOf" srcId="{B2124966-728E-48A7-9791-2C637920351A}" destId="{6D379F12-A51A-4838-8031-55CDE6F3C123}" srcOrd="0" destOrd="0" presId="urn:microsoft.com/office/officeart/2005/8/layout/cycle3"/>
    <dgm:cxn modelId="{4425064D-9DEA-4581-BD57-05289E8FA0D5}" srcId="{7AEF514F-68C6-4254-B87E-B22142357029}" destId="{B2124966-728E-48A7-9791-2C637920351A}" srcOrd="1" destOrd="0" parTransId="{451250F3-8DFE-4263-818F-6188BD4634E2}" sibTransId="{F05D3DBF-2046-4113-A891-0A80660586E2}"/>
    <dgm:cxn modelId="{91EE2E52-B71D-416F-ACCF-A5B819846FAA}" srcId="{7AEF514F-68C6-4254-B87E-B22142357029}" destId="{14B547CA-283C-4A0A-98D1-1A1D5C99ADC8}" srcOrd="2" destOrd="0" parTransId="{48BF9780-E0D2-4217-86EF-DDFA8C11E84F}" sibTransId="{75835470-3429-45C9-A314-4E62DCE9B82C}"/>
    <dgm:cxn modelId="{284D5177-67AD-4EAC-B456-BDEECA59389E}" type="presOf" srcId="{69B90D6C-38F0-4622-A847-2765D947F379}" destId="{F89E39E0-21DD-4CCD-A2D2-A7E69E6CF767}" srcOrd="0" destOrd="0" presId="urn:microsoft.com/office/officeart/2005/8/layout/cycle3"/>
    <dgm:cxn modelId="{7F59ED81-9106-4F80-84FA-A1F68DD2433E}" type="presOf" srcId="{4B333F21-93B9-4EE1-8BD1-3F2FB8FF6F84}" destId="{10CE3189-8C3D-4EAC-8AB1-1BE4E58E9A69}" srcOrd="0" destOrd="0" presId="urn:microsoft.com/office/officeart/2005/8/layout/cycle3"/>
    <dgm:cxn modelId="{52978289-3BF4-4162-9572-3532205B5615}" type="presOf" srcId="{14B547CA-283C-4A0A-98D1-1A1D5C99ADC8}" destId="{17D0BE3E-73F8-4C5E-A6E6-EDD799A9EFE8}" srcOrd="0" destOrd="0" presId="urn:microsoft.com/office/officeart/2005/8/layout/cycle3"/>
    <dgm:cxn modelId="{D7E91394-DD66-44BA-882E-7EF0725A2C39}" srcId="{7AEF514F-68C6-4254-B87E-B22142357029}" destId="{69B90D6C-38F0-4622-A847-2765D947F379}" srcOrd="0" destOrd="0" parTransId="{8289D0E4-0569-437C-82CB-A63EEBC9141B}" sibTransId="{C9471942-6474-48B5-8765-3C728CF26D55}"/>
    <dgm:cxn modelId="{E1CDBE97-6B8D-47C6-BB58-01E1EDA9623B}" type="presOf" srcId="{7AEF514F-68C6-4254-B87E-B22142357029}" destId="{7A047B3C-CEA4-4FE9-ACBC-346CF031B532}" srcOrd="0" destOrd="0" presId="urn:microsoft.com/office/officeart/2005/8/layout/cycle3"/>
    <dgm:cxn modelId="{3E3926BD-208C-4127-B1BD-8367B3DBB6A5}" srcId="{7AEF514F-68C6-4254-B87E-B22142357029}" destId="{4B333F21-93B9-4EE1-8BD1-3F2FB8FF6F84}" srcOrd="3" destOrd="0" parTransId="{764585F9-048F-43AF-9C68-26DA3107735C}" sibTransId="{AB409227-3E00-45C0-93F5-61209BFA3C2D}"/>
    <dgm:cxn modelId="{8613A8D3-67F8-4F64-A91A-228CD37B578D}" type="presOf" srcId="{C9471942-6474-48B5-8765-3C728CF26D55}" destId="{BBD9B570-40AD-4FF0-907E-C5C0E55FBB0A}" srcOrd="0" destOrd="0" presId="urn:microsoft.com/office/officeart/2005/8/layout/cycle3"/>
    <dgm:cxn modelId="{CA990DDC-3132-420D-A86D-DFD9F9115EC2}" type="presOf" srcId="{8A9CCEE2-E050-4962-B9D2-A6254AE75E83}" destId="{74AEBB5A-4263-42C5-AEE1-B5E00520BBA0}" srcOrd="0" destOrd="0" presId="urn:microsoft.com/office/officeart/2005/8/layout/cycle3"/>
    <dgm:cxn modelId="{31989C01-C52B-44DC-ABC2-73B1F1058ADF}" type="presParOf" srcId="{7A047B3C-CEA4-4FE9-ACBC-346CF031B532}" destId="{A6E1A9A2-0607-48C2-AB94-63D9AA01EA3B}" srcOrd="0" destOrd="0" presId="urn:microsoft.com/office/officeart/2005/8/layout/cycle3"/>
    <dgm:cxn modelId="{74ED9D3C-6416-42B1-A3C5-479BB37C9586}" type="presParOf" srcId="{A6E1A9A2-0607-48C2-AB94-63D9AA01EA3B}" destId="{F89E39E0-21DD-4CCD-A2D2-A7E69E6CF767}" srcOrd="0" destOrd="0" presId="urn:microsoft.com/office/officeart/2005/8/layout/cycle3"/>
    <dgm:cxn modelId="{B1A5CB81-9AC7-4274-B61F-9D679C348E27}" type="presParOf" srcId="{A6E1A9A2-0607-48C2-AB94-63D9AA01EA3B}" destId="{BBD9B570-40AD-4FF0-907E-C5C0E55FBB0A}" srcOrd="1" destOrd="0" presId="urn:microsoft.com/office/officeart/2005/8/layout/cycle3"/>
    <dgm:cxn modelId="{C8DFA13C-9464-42F2-9CA2-100797B166F0}" type="presParOf" srcId="{A6E1A9A2-0607-48C2-AB94-63D9AA01EA3B}" destId="{6D379F12-A51A-4838-8031-55CDE6F3C123}" srcOrd="2" destOrd="0" presId="urn:microsoft.com/office/officeart/2005/8/layout/cycle3"/>
    <dgm:cxn modelId="{0A4649A8-C111-43D9-B71D-66FAF4128492}" type="presParOf" srcId="{A6E1A9A2-0607-48C2-AB94-63D9AA01EA3B}" destId="{17D0BE3E-73F8-4C5E-A6E6-EDD799A9EFE8}" srcOrd="3" destOrd="0" presId="urn:microsoft.com/office/officeart/2005/8/layout/cycle3"/>
    <dgm:cxn modelId="{3AF24DA5-C14D-4354-8087-D5905730F182}" type="presParOf" srcId="{A6E1A9A2-0607-48C2-AB94-63D9AA01EA3B}" destId="{10CE3189-8C3D-4EAC-8AB1-1BE4E58E9A69}" srcOrd="4" destOrd="0" presId="urn:microsoft.com/office/officeart/2005/8/layout/cycle3"/>
    <dgm:cxn modelId="{007F5D3E-5D85-4062-8276-E334D8FB96CE}" type="presParOf" srcId="{A6E1A9A2-0607-48C2-AB94-63D9AA01EA3B}" destId="{74AEBB5A-4263-42C5-AEE1-B5E00520BBA0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910D0-C0AF-4824-8483-E6DF3A1A53C3}" type="doc">
      <dgm:prSet loTypeId="urn:microsoft.com/office/officeart/2005/8/layout/process1" loCatId="process" qsTypeId="urn:microsoft.com/office/officeart/2005/8/quickstyle/simple1" qsCatId="simple" csTypeId="urn:microsoft.com/office/officeart/2005/8/colors/accent3_5" csCatId="accent3" phldr="1"/>
      <dgm:spPr/>
    </dgm:pt>
    <dgm:pt modelId="{E4AA0CFF-262A-473B-BF22-8157F8FB2B06}">
      <dgm:prSet phldrT="[Texto]" custT="1"/>
      <dgm:spPr/>
      <dgm:t>
        <a:bodyPr/>
        <a:lstStyle/>
        <a:p>
          <a:r>
            <a:rPr lang="pt-BR" sz="1400" b="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Reunião de </a:t>
          </a:r>
          <a:r>
            <a:rPr lang="pt-BR" sz="1400" b="0" i="1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Views</a:t>
          </a:r>
          <a:endParaRPr lang="pt-BR" sz="1400" b="0" i="1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gm:t>
    </dgm:pt>
    <dgm:pt modelId="{73AB6358-AAB2-4AEE-BF93-4D3847647256}" type="parTrans" cxnId="{E9FD10E9-E3DB-4903-87BA-744B428A873D}">
      <dgm:prSet/>
      <dgm:spPr/>
      <dgm:t>
        <a:bodyPr/>
        <a:lstStyle/>
        <a:p>
          <a:endParaRPr lang="pt-BR" sz="1200" b="0" i="1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gm:t>
    </dgm:pt>
    <dgm:pt modelId="{A32B0BD6-BF40-425B-9125-E73F0D2E76B2}" type="sibTrans" cxnId="{E9FD10E9-E3DB-4903-87BA-744B428A873D}">
      <dgm:prSet custT="1"/>
      <dgm:spPr>
        <a:solidFill>
          <a:srgbClr val="A5A5A5">
            <a:alpha val="50000"/>
          </a:srgbClr>
        </a:solidFill>
      </dgm:spPr>
      <dgm:t>
        <a:bodyPr/>
        <a:lstStyle/>
        <a:p>
          <a:endParaRPr lang="pt-BR" sz="1050" b="0" i="1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gm:t>
    </dgm:pt>
    <dgm:pt modelId="{4B9D6425-75CD-4214-B116-14D0BDD75CE8}">
      <dgm:prSet phldrT="[Texto]" custT="1"/>
      <dgm:spPr/>
      <dgm:t>
        <a:bodyPr/>
        <a:lstStyle/>
        <a:p>
          <a:r>
            <a:rPr lang="pt-BR" sz="1400" b="0" i="1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Comitê de Gestão</a:t>
          </a:r>
        </a:p>
      </dgm:t>
    </dgm:pt>
    <dgm:pt modelId="{92209ACE-95D0-421C-8293-0CA0EE8EF158}" type="parTrans" cxnId="{AD1807D2-E3B0-4069-B5B7-6C06D4F1D7D5}">
      <dgm:prSet/>
      <dgm:spPr/>
      <dgm:t>
        <a:bodyPr/>
        <a:lstStyle/>
        <a:p>
          <a:endParaRPr lang="pt-BR" sz="1200" b="0" i="1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gm:t>
    </dgm:pt>
    <dgm:pt modelId="{7B6AF4CC-A3B1-4D99-8B3C-6EDF2F9A2DC0}" type="sibTrans" cxnId="{AD1807D2-E3B0-4069-B5B7-6C06D4F1D7D5}">
      <dgm:prSet/>
      <dgm:spPr/>
      <dgm:t>
        <a:bodyPr/>
        <a:lstStyle/>
        <a:p>
          <a:endParaRPr lang="pt-BR" sz="1200" b="0" i="1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gm:t>
    </dgm:pt>
    <dgm:pt modelId="{FDAE1CB8-B4EB-4085-9FA5-ED3F6CAD4001}" type="pres">
      <dgm:prSet presAssocID="{5D9910D0-C0AF-4824-8483-E6DF3A1A53C3}" presName="Name0" presStyleCnt="0">
        <dgm:presLayoutVars>
          <dgm:dir/>
          <dgm:resizeHandles val="exact"/>
        </dgm:presLayoutVars>
      </dgm:prSet>
      <dgm:spPr/>
    </dgm:pt>
    <dgm:pt modelId="{FAB1A6F0-2846-494E-BEB5-E1C3E305AB68}" type="pres">
      <dgm:prSet presAssocID="{E4AA0CFF-262A-473B-BF22-8157F8FB2B06}" presName="node" presStyleLbl="node1" presStyleIdx="0" presStyleCnt="2" custScaleX="191565">
        <dgm:presLayoutVars>
          <dgm:bulletEnabled val="1"/>
        </dgm:presLayoutVars>
      </dgm:prSet>
      <dgm:spPr/>
    </dgm:pt>
    <dgm:pt modelId="{29E6E68D-D036-4EBD-ACE1-C67267D57354}" type="pres">
      <dgm:prSet presAssocID="{A32B0BD6-BF40-425B-9125-E73F0D2E76B2}" presName="sibTrans" presStyleLbl="sibTrans2D1" presStyleIdx="0" presStyleCnt="1"/>
      <dgm:spPr/>
    </dgm:pt>
    <dgm:pt modelId="{75E501F9-C539-4FF3-938D-C75EEF34B182}" type="pres">
      <dgm:prSet presAssocID="{A32B0BD6-BF40-425B-9125-E73F0D2E76B2}" presName="connectorText" presStyleLbl="sibTrans2D1" presStyleIdx="0" presStyleCnt="1"/>
      <dgm:spPr/>
    </dgm:pt>
    <dgm:pt modelId="{4B0C2221-1AC1-49F0-AA77-776B39F473E1}" type="pres">
      <dgm:prSet presAssocID="{4B9D6425-75CD-4214-B116-14D0BDD75CE8}" presName="node" presStyleLbl="node1" presStyleIdx="1" presStyleCnt="2" custScaleX="179755">
        <dgm:presLayoutVars>
          <dgm:bulletEnabled val="1"/>
        </dgm:presLayoutVars>
      </dgm:prSet>
      <dgm:spPr/>
    </dgm:pt>
  </dgm:ptLst>
  <dgm:cxnLst>
    <dgm:cxn modelId="{37E4640A-6B8E-4D34-89D7-3ACAFA769AEC}" type="presOf" srcId="{A32B0BD6-BF40-425B-9125-E73F0D2E76B2}" destId="{75E501F9-C539-4FF3-938D-C75EEF34B182}" srcOrd="1" destOrd="0" presId="urn:microsoft.com/office/officeart/2005/8/layout/process1"/>
    <dgm:cxn modelId="{A46F9C18-36D1-4757-8277-9D8AD52DDA19}" type="presOf" srcId="{E4AA0CFF-262A-473B-BF22-8157F8FB2B06}" destId="{FAB1A6F0-2846-494E-BEB5-E1C3E305AB68}" srcOrd="0" destOrd="0" presId="urn:microsoft.com/office/officeart/2005/8/layout/process1"/>
    <dgm:cxn modelId="{FC97107C-B0E4-4560-925E-9C679A4C96D6}" type="presOf" srcId="{5D9910D0-C0AF-4824-8483-E6DF3A1A53C3}" destId="{FDAE1CB8-B4EB-4085-9FA5-ED3F6CAD4001}" srcOrd="0" destOrd="0" presId="urn:microsoft.com/office/officeart/2005/8/layout/process1"/>
    <dgm:cxn modelId="{AD1807D2-E3B0-4069-B5B7-6C06D4F1D7D5}" srcId="{5D9910D0-C0AF-4824-8483-E6DF3A1A53C3}" destId="{4B9D6425-75CD-4214-B116-14D0BDD75CE8}" srcOrd="1" destOrd="0" parTransId="{92209ACE-95D0-421C-8293-0CA0EE8EF158}" sibTransId="{7B6AF4CC-A3B1-4D99-8B3C-6EDF2F9A2DC0}"/>
    <dgm:cxn modelId="{994B1DD7-3DDE-495F-BA1D-964AFCF8BCF2}" type="presOf" srcId="{4B9D6425-75CD-4214-B116-14D0BDD75CE8}" destId="{4B0C2221-1AC1-49F0-AA77-776B39F473E1}" srcOrd="0" destOrd="0" presId="urn:microsoft.com/office/officeart/2005/8/layout/process1"/>
    <dgm:cxn modelId="{E9FD10E9-E3DB-4903-87BA-744B428A873D}" srcId="{5D9910D0-C0AF-4824-8483-E6DF3A1A53C3}" destId="{E4AA0CFF-262A-473B-BF22-8157F8FB2B06}" srcOrd="0" destOrd="0" parTransId="{73AB6358-AAB2-4AEE-BF93-4D3847647256}" sibTransId="{A32B0BD6-BF40-425B-9125-E73F0D2E76B2}"/>
    <dgm:cxn modelId="{A5391DF1-1DF1-4A6D-B1F5-48E9E520F8A5}" type="presOf" srcId="{A32B0BD6-BF40-425B-9125-E73F0D2E76B2}" destId="{29E6E68D-D036-4EBD-ACE1-C67267D57354}" srcOrd="0" destOrd="0" presId="urn:microsoft.com/office/officeart/2005/8/layout/process1"/>
    <dgm:cxn modelId="{74DB249D-8566-43D7-B928-198237833539}" type="presParOf" srcId="{FDAE1CB8-B4EB-4085-9FA5-ED3F6CAD4001}" destId="{FAB1A6F0-2846-494E-BEB5-E1C3E305AB68}" srcOrd="0" destOrd="0" presId="urn:microsoft.com/office/officeart/2005/8/layout/process1"/>
    <dgm:cxn modelId="{ECAA2A59-E97A-4D9B-9904-05A3718BE0AD}" type="presParOf" srcId="{FDAE1CB8-B4EB-4085-9FA5-ED3F6CAD4001}" destId="{29E6E68D-D036-4EBD-ACE1-C67267D57354}" srcOrd="1" destOrd="0" presId="urn:microsoft.com/office/officeart/2005/8/layout/process1"/>
    <dgm:cxn modelId="{1C6F02D5-EEE7-49D8-8001-24B97E8BD984}" type="presParOf" srcId="{29E6E68D-D036-4EBD-ACE1-C67267D57354}" destId="{75E501F9-C539-4FF3-938D-C75EEF34B182}" srcOrd="0" destOrd="0" presId="urn:microsoft.com/office/officeart/2005/8/layout/process1"/>
    <dgm:cxn modelId="{64A9C16F-78A9-4FAE-A285-9A580EA9CE30}" type="presParOf" srcId="{FDAE1CB8-B4EB-4085-9FA5-ED3F6CAD4001}" destId="{4B0C2221-1AC1-49F0-AA77-776B39F473E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D9B570-40AD-4FF0-907E-C5C0E55FBB0A}">
      <dsp:nvSpPr>
        <dsp:cNvPr id="0" name=""/>
        <dsp:cNvSpPr/>
      </dsp:nvSpPr>
      <dsp:spPr>
        <a:xfrm>
          <a:off x="860836" y="-5058"/>
          <a:ext cx="3459923" cy="3459923"/>
        </a:xfrm>
        <a:prstGeom prst="circularArrow">
          <a:avLst>
            <a:gd name="adj1" fmla="val 5544"/>
            <a:gd name="adj2" fmla="val 330680"/>
            <a:gd name="adj3" fmla="val 14218467"/>
            <a:gd name="adj4" fmla="val 17122113"/>
            <a:gd name="adj5" fmla="val 5757"/>
          </a:avLst>
        </a:prstGeom>
        <a:solidFill>
          <a:srgbClr val="64C83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9E39E0-21DD-4CCD-A2D2-A7E69E6CF767}">
      <dsp:nvSpPr>
        <dsp:cNvPr id="0" name=""/>
        <dsp:cNvSpPr/>
      </dsp:nvSpPr>
      <dsp:spPr>
        <a:xfrm>
          <a:off x="1940241" y="2326"/>
          <a:ext cx="1301114" cy="6656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PESQUISA MACRO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do Cenário Macroeconômico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1972737" y="34822"/>
        <a:ext cx="1236122" cy="600694"/>
      </dsp:txXfrm>
    </dsp:sp>
    <dsp:sp modelId="{6D379F12-A51A-4838-8031-55CDE6F3C123}">
      <dsp:nvSpPr>
        <dsp:cNvPr id="0" name=""/>
        <dsp:cNvSpPr/>
      </dsp:nvSpPr>
      <dsp:spPr>
        <a:xfrm>
          <a:off x="3343474" y="1021835"/>
          <a:ext cx="1301114" cy="6656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323C3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 DOS MERCADOS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Análise e discussão das perspectivas e prêmios para os mercados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3375970" y="1054331"/>
        <a:ext cx="1236122" cy="600694"/>
      </dsp:txXfrm>
    </dsp:sp>
    <dsp:sp modelId="{17D0BE3E-73F8-4C5E-A6E6-EDD799A9EFE8}">
      <dsp:nvSpPr>
        <dsp:cNvPr id="0" name=""/>
        <dsp:cNvSpPr/>
      </dsp:nvSpPr>
      <dsp:spPr>
        <a:xfrm>
          <a:off x="2807487" y="2556485"/>
          <a:ext cx="1301114" cy="89558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323C3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ESTRATÉGIA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Definição do posicionamento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Estratégias/Targets/</a:t>
          </a:r>
          <a:r>
            <a:rPr lang="pt-BR" sz="800" i="1" kern="120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Stops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2851206" y="2600204"/>
        <a:ext cx="1213676" cy="808149"/>
      </dsp:txXfrm>
    </dsp:sp>
    <dsp:sp modelId="{10CE3189-8C3D-4EAC-8AB1-1BE4E58E9A69}">
      <dsp:nvSpPr>
        <dsp:cNvPr id="0" name=""/>
        <dsp:cNvSpPr/>
      </dsp:nvSpPr>
      <dsp:spPr>
        <a:xfrm>
          <a:off x="1072995" y="2671435"/>
          <a:ext cx="1301114" cy="66568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323C3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EXECUÇÃO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Alocação de acordo com a estratégia e timing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1105491" y="2703931"/>
        <a:ext cx="1236122" cy="600694"/>
      </dsp:txXfrm>
    </dsp:sp>
    <dsp:sp modelId="{74AEBB5A-4263-42C5-AEE1-B5E00520BBA0}">
      <dsp:nvSpPr>
        <dsp:cNvPr id="0" name=""/>
        <dsp:cNvSpPr/>
      </dsp:nvSpPr>
      <dsp:spPr>
        <a:xfrm>
          <a:off x="537007" y="795613"/>
          <a:ext cx="1301114" cy="111813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323C32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b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MONITORAMENTO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Controle de exposição a riscos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Acompanhamento dos resultados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i="1" kern="1200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Stops</a:t>
          </a: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 </a:t>
          </a:r>
          <a:r>
            <a:rPr lang="pt-BR" sz="800" i="1" kern="1200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gain</a:t>
          </a:r>
          <a:r>
            <a:rPr lang="pt-BR" sz="800" i="1" kern="1200" noProof="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/</a:t>
          </a:r>
          <a:r>
            <a:rPr lang="pt-BR" sz="800" i="1" kern="1200" noProof="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  <a:ea typeface="+mn-ea"/>
              <a:cs typeface="+mn-cs"/>
            </a:rPr>
            <a:t>loss</a:t>
          </a:r>
          <a:endParaRPr lang="pt-BR" sz="800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591590" y="850196"/>
        <a:ext cx="1191948" cy="10089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B1A6F0-2846-494E-BEB5-E1C3E305AB68}">
      <dsp:nvSpPr>
        <dsp:cNvPr id="0" name=""/>
        <dsp:cNvSpPr/>
      </dsp:nvSpPr>
      <dsp:spPr>
        <a:xfrm>
          <a:off x="2050" y="207050"/>
          <a:ext cx="1060379" cy="53625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Reunião de </a:t>
          </a:r>
          <a:r>
            <a:rPr lang="pt-BR" sz="1400" b="0" i="1" kern="1200" dirty="0" err="1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Views</a:t>
          </a:r>
          <a:endParaRPr lang="pt-BR" sz="1400" b="0" i="1" kern="1200" dirty="0">
            <a:solidFill>
              <a:schemeClr val="tx1">
                <a:lumMod val="75000"/>
                <a:lumOff val="25000"/>
              </a:schemeClr>
            </a:solidFill>
            <a:latin typeface="Exo 2.0" panose="00000500000000000000" pitchFamily="50" charset="0"/>
          </a:endParaRPr>
        </a:p>
      </dsp:txBody>
      <dsp:txXfrm>
        <a:off x="17756" y="222756"/>
        <a:ext cx="1028967" cy="504844"/>
      </dsp:txXfrm>
    </dsp:sp>
    <dsp:sp modelId="{29E6E68D-D036-4EBD-ACE1-C67267D57354}">
      <dsp:nvSpPr>
        <dsp:cNvPr id="0" name=""/>
        <dsp:cNvSpPr/>
      </dsp:nvSpPr>
      <dsp:spPr>
        <a:xfrm>
          <a:off x="1117782" y="406540"/>
          <a:ext cx="117349" cy="137276"/>
        </a:xfrm>
        <a:prstGeom prst="rightArrow">
          <a:avLst>
            <a:gd name="adj1" fmla="val 60000"/>
            <a:gd name="adj2" fmla="val 50000"/>
          </a:avLst>
        </a:prstGeom>
        <a:solidFill>
          <a:srgbClr val="A5A5A5">
            <a:alpha val="5000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050" b="0" i="1" kern="1200">
            <a:solidFill>
              <a:schemeClr val="tx2">
                <a:lumMod val="50000"/>
              </a:schemeClr>
            </a:solidFill>
            <a:latin typeface="Exo 2.0" panose="00000500000000000000" pitchFamily="50" charset="0"/>
          </a:endParaRPr>
        </a:p>
      </dsp:txBody>
      <dsp:txXfrm>
        <a:off x="1117782" y="433995"/>
        <a:ext cx="82144" cy="82366"/>
      </dsp:txXfrm>
    </dsp:sp>
    <dsp:sp modelId="{4B0C2221-1AC1-49F0-AA77-776B39F473E1}">
      <dsp:nvSpPr>
        <dsp:cNvPr id="0" name=""/>
        <dsp:cNvSpPr/>
      </dsp:nvSpPr>
      <dsp:spPr>
        <a:xfrm>
          <a:off x="1283843" y="207050"/>
          <a:ext cx="995006" cy="536256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1" kern="1200" dirty="0">
              <a:solidFill>
                <a:schemeClr val="tx1">
                  <a:lumMod val="75000"/>
                  <a:lumOff val="25000"/>
                </a:schemeClr>
              </a:solidFill>
              <a:latin typeface="Exo 2.0" panose="00000500000000000000" pitchFamily="50" charset="0"/>
            </a:rPr>
            <a:t>Comitê de Gestão</a:t>
          </a:r>
        </a:p>
      </dsp:txBody>
      <dsp:txXfrm>
        <a:off x="1299549" y="222756"/>
        <a:ext cx="963594" cy="504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00F81-8331-434F-8C10-B3EEA1F8ACB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7A971-E2C0-4C4D-A64C-3C323ED2C10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877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362C-C403-2F17-8714-58EA28A1F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C9A510-3161-F7B5-0E75-406AC52F1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24464-1DD7-12C8-84C9-EEFFFFE22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2EC47-E008-CF22-E3D2-FEEC9D65D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624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B62C0-0E6F-8B33-A91D-336106B55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7B31F-AB7D-683C-FB4A-FE187FFDE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F20734-7383-EB8E-989A-70324D7CD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71DB1-60B4-93F2-C5BF-31DB420B92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095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D5371-DF8A-4CE1-68CE-88E32028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4B3BD-1795-5E44-98A2-3F8170AAB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04A9F-7A9B-4CDE-A5AB-ECF7582E0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70D1-0E1A-366E-B762-F29B40E848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58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DDB20-3E39-0A14-4BF9-AD8DACAF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61BB2-4C79-138A-64B4-E18D28A6C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234AD-EB70-DE9E-859E-9EA28A4A1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120D1-B196-F0E3-7FCA-05E0F34CF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965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F08D-A1EA-EE12-65B6-6F07C86EA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5F65B0-08E9-6A8A-77E4-6C44A5C0C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31E629-CFA4-6934-E086-3EEDF2116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Break / </a:t>
            </a:r>
            <a:r>
              <a:rPr lang="pt-BR" dirty="0" err="1"/>
              <a:t>Subtitle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F99AE9-167B-44C6-BB6C-A09D46168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7A971-E2C0-4C4D-A64C-3C323ED2C10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0425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A6B49-8A1C-183D-B4F6-058EF59AE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11101-A6D0-78DE-71BC-18B3D2C9B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AC768-834B-4F9C-9B10-6A8B05532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DBE1F-A0B8-6C09-7AC9-696B85C60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839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DDC0-0D77-BA2F-A47D-554E72CB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A200C-0837-EFB8-D665-2C9C8525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983E2D-4168-C07D-7C34-429BE8D13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 +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B1600-3745-F3BA-A60E-997C9FD44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46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numbers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2037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438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organizational</a:t>
            </a:r>
            <a:r>
              <a:rPr lang="pt-BR" dirty="0"/>
              <a:t> </a:t>
            </a:r>
            <a:r>
              <a:rPr lang="pt-BR" dirty="0" err="1"/>
              <a:t>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105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9EF37-F7D2-7419-F06E-45B16822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3607C-2099-F683-A5C5-7BE175F76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6C6A0-89E8-031C-2E98-0395CEEBB1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Our</a:t>
            </a:r>
            <a:r>
              <a:rPr lang="pt-BR" dirty="0"/>
              <a:t> </a:t>
            </a:r>
            <a:r>
              <a:rPr lang="pt-BR" dirty="0" err="1"/>
              <a:t>beliefs</a:t>
            </a:r>
            <a:r>
              <a:rPr lang="pt-BR" dirty="0"/>
              <a:t> </a:t>
            </a:r>
            <a:r>
              <a:rPr lang="pt-BR" dirty="0" err="1"/>
              <a:t>when</a:t>
            </a:r>
            <a:r>
              <a:rPr lang="pt-BR" dirty="0"/>
              <a:t> </a:t>
            </a:r>
            <a:r>
              <a:rPr lang="pt-BR" dirty="0" err="1"/>
              <a:t>investing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99A2F-7240-405C-6F83-613ADD608D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36992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 Allocation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92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Institutional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committees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839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Big </a:t>
            </a:r>
            <a:r>
              <a:rPr lang="pt-BR" dirty="0" err="1"/>
              <a:t>Numbers</a:t>
            </a:r>
            <a:r>
              <a:rPr lang="pt-BR" dirty="0"/>
              <a:t> II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EE98B-9D6E-440B-BDDF-DECD28F02E5C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47659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Big </a:t>
            </a:r>
            <a:r>
              <a:rPr lang="pt-BR" dirty="0" err="1"/>
              <a:t>Numbers</a:t>
            </a:r>
            <a:r>
              <a:rPr lang="pt-BR" dirty="0"/>
              <a:t> 3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7EE98B-9D6E-440B-BDDF-DECD28F02E5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4293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022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Boring Text +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299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708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905CC-36CA-5A24-3201-303199F74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BA473-330D-7529-5D7D-C6A5947D8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B1241-ACD1-EEB4-F788-8D66641F6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025DC-E6C9-450A-322B-11BBF3E7F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9209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05B35-FDE3-8D94-652A-E09F0BD3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F7ED4-41AE-AAB3-58AF-456F9D51F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AD12E-F1A2-CF42-19C1-048B2C1BD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44B48-29B0-EB5A-5BAE-FE8156554F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6213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B29D2-95D6-6285-F779-06C54863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326036-F8F2-59C9-CAD0-F9D4CEF84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4EFD3-2C65-0DDE-0F0A-71A106F89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78035-FAD0-C227-F48A-6EAE02902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6752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AC368-96E6-0E90-82CA-7F6CD75EB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92F7A-3C5A-F45A-8790-E50D3972ED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D04CE4-1967-EE65-FBE8-97D8D9884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971EB-B383-8A99-264C-2A0CD657EF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287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A7C4-55F1-6257-70D7-C4CE9C4D1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2EA37C-F129-1AF9-6606-F876F6A54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CDEB5-6AD0-4342-9C04-0144169F5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4366B-B4C0-51B2-3BAA-C28F7BBEA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7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504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0CF4E-458D-4E1F-9A82-2575935E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802438-F4D6-41FA-9000-9E9C77B30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38A2BA-C2AA-46AA-8431-FE0BE1B5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AF8C-A528-434F-B7FF-B9B67D73AF22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D80273-7983-4DDF-9B81-FC9C5AC6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7FAE9E-E902-491A-8808-3FC65470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9F6C-C8EA-4A69-97CB-09CCE80EE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256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2FD6DB-92A7-48AF-961E-3F02ACC87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EAF8C-A528-434F-B7FF-B9B67D73AF22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CFD4F58-AF8A-474E-9096-5A87A4BA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B5CEEC-0F2C-4D12-BB6B-0CDC79CD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9F6C-C8EA-4A69-97CB-09CCE80EE3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356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CEB9BDE-E965-4831-5F5B-9E560200433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5848266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6" imgW="307" imgH="307" progId="TCLayout.ActiveDocument.1">
                  <p:embed/>
                </p:oleObj>
              </mc:Choice>
              <mc:Fallback>
                <p:oleObj name="Slide do think-cell" r:id="rId6" imgW="307" imgH="307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CEB9BDE-E965-4831-5F5B-9E5602004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MSIPCMContentMarking" descr="{&quot;HashCode&quot;:1358424980,&quot;Placement&quot;:&quot;Footer&quot;,&quot;Top&quot;:384.343,&quot;Left&quot;:264.723541,&quot;SlideWidth&quot;:720,&quot;SlideHeight&quot;:405}">
            <a:extLst>
              <a:ext uri="{FF2B5EF4-FFF2-40B4-BE49-F238E27FC236}">
                <a16:creationId xmlns:a16="http://schemas.microsoft.com/office/drawing/2014/main" id="{5AC07B82-74E4-42BF-BAD1-73D4E4FA9950}"/>
              </a:ext>
            </a:extLst>
          </p:cNvPr>
          <p:cNvSpPr txBox="1"/>
          <p:nvPr userDrawn="1"/>
        </p:nvSpPr>
        <p:spPr>
          <a:xfrm>
            <a:off x="3361989" y="4881156"/>
            <a:ext cx="2420021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1000">
                <a:solidFill>
                  <a:srgbClr val="000000"/>
                </a:solidFill>
                <a:latin typeface="Calibri" panose="020F0502020204030204" pitchFamily="34" charset="0"/>
              </a:rPr>
              <a:t>Classificação da informação: Uso Interno</a:t>
            </a:r>
          </a:p>
        </p:txBody>
      </p:sp>
    </p:spTree>
    <p:extLst>
      <p:ext uri="{BB962C8B-B14F-4D97-AF65-F5344CB8AC3E}">
        <p14:creationId xmlns:p14="http://schemas.microsoft.com/office/powerpoint/2010/main" val="62702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8.svg"/><Relationship Id="rId9" Type="http://schemas.openxmlformats.org/officeDocument/2006/relationships/image" Target="../media/image22.pn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diagramColors" Target="../diagrams/colors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1.png"/><Relationship Id="rId10" Type="http://schemas.openxmlformats.org/officeDocument/2006/relationships/diagramData" Target="../diagrams/data2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8.svg"/><Relationship Id="rId14" Type="http://schemas.microsoft.com/office/2007/relationships/diagramDrawing" Target="../diagrams/drawing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7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8.svg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6.pn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3.pn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5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 descr="Torre de um prédio&#10;&#10;O conteúdo gerado por IA pode estar incorreto.">
            <a:extLst>
              <a:ext uri="{FF2B5EF4-FFF2-40B4-BE49-F238E27FC236}">
                <a16:creationId xmlns:a16="http://schemas.microsoft.com/office/drawing/2014/main" id="{70C41EF5-26A4-3A1D-FEFB-2852E7248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544246"/>
            <a:ext cx="9144000" cy="8068235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69726A00-3626-D2AA-8DF0-C606C15E8EE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F5537-A627-4C63-83C3-05FA12525456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BDF70F2A-68E0-05F8-3BE4-FB08CAA1995C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Alocação Fm Macro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sp>
        <p:nvSpPr>
          <p:cNvPr id="8" name="Object3">
            <a:extLst>
              <a:ext uri="{FF2B5EF4-FFF2-40B4-BE49-F238E27FC236}">
                <a16:creationId xmlns:a16="http://schemas.microsoft.com/office/drawing/2014/main" id="{2549E19F-F1FE-DFD9-E442-7C9E316AFA7E}"/>
              </a:ext>
            </a:extLst>
          </p:cNvPr>
          <p:cNvSpPr/>
          <p:nvPr/>
        </p:nvSpPr>
        <p:spPr>
          <a:xfrm>
            <a:off x="585581" y="2406761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Proposta</a:t>
            </a:r>
            <a:r>
              <a:rPr lang="en-US" sz="25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 e </a:t>
            </a:r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resultados</a:t>
            </a:r>
            <a:endParaRPr lang="en-US" sz="25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7DB1A7B-05A3-C2DA-C0C4-22D672EC538D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2B90E196-DB33-7161-9F1E-B0B229280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420898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AB197BC-F4D2-CD00-8CEC-A80914E65CD4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71CFDE44-1F16-93C2-6E05-D0427F733C0A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535EE4BB-CF48-A469-2D50-F51DFE6038C7}"/>
              </a:ext>
            </a:extLst>
          </p:cNvPr>
          <p:cNvCxnSpPr>
            <a:cxnSpLocks/>
          </p:cNvCxnSpPr>
          <p:nvPr/>
        </p:nvCxnSpPr>
        <p:spPr>
          <a:xfrm>
            <a:off x="8678430" y="1636569"/>
            <a:ext cx="5716" cy="2177036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E87C9EE-7316-C472-23ED-2211E2C66E39}"/>
              </a:ext>
            </a:extLst>
          </p:cNvPr>
          <p:cNvCxnSpPr>
            <a:cxnSpLocks/>
          </p:cNvCxnSpPr>
          <p:nvPr/>
        </p:nvCxnSpPr>
        <p:spPr>
          <a:xfrm>
            <a:off x="8527066" y="1995605"/>
            <a:ext cx="5716" cy="181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E6BEE3E-5C62-2DE0-6763-C17BE93D6738}"/>
              </a:ext>
            </a:extLst>
          </p:cNvPr>
          <p:cNvCxnSpPr>
            <a:cxnSpLocks/>
          </p:cNvCxnSpPr>
          <p:nvPr/>
        </p:nvCxnSpPr>
        <p:spPr>
          <a:xfrm>
            <a:off x="8372548" y="2356583"/>
            <a:ext cx="5716" cy="145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A22B8-66F8-1F65-8658-1F034B69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 descr="Torre de um prédio&#10;&#10;O conteúdo gerado por IA pode estar incorreto.">
            <a:extLst>
              <a:ext uri="{FF2B5EF4-FFF2-40B4-BE49-F238E27FC236}">
                <a16:creationId xmlns:a16="http://schemas.microsoft.com/office/drawing/2014/main" id="{4194CF0E-FF9B-C8E8-FEA5-12518884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544246"/>
            <a:ext cx="9144000" cy="8068235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FCF5BAE0-5444-5A85-D85F-72622F410C0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EE6DA551-4581-AA04-46A1-A8600BAA33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5" name="Object4">
            <a:extLst>
              <a:ext uri="{FF2B5EF4-FFF2-40B4-BE49-F238E27FC236}">
                <a16:creationId xmlns:a16="http://schemas.microsoft.com/office/drawing/2014/main" id="{BCB80CC2-D5D8-88A6-37EF-190686031041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9DED90-9973-2F71-3CEB-FCAE10E42829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9A65FA81-6FBA-CB60-BF41-F20D2760127F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Alocação Fm Macro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sp>
        <p:nvSpPr>
          <p:cNvPr id="8" name="Object3">
            <a:extLst>
              <a:ext uri="{FF2B5EF4-FFF2-40B4-BE49-F238E27FC236}">
                <a16:creationId xmlns:a16="http://schemas.microsoft.com/office/drawing/2014/main" id="{A1D3E024-C5A5-3BCF-4628-DED54C7F74FE}"/>
              </a:ext>
            </a:extLst>
          </p:cNvPr>
          <p:cNvSpPr/>
          <p:nvPr/>
        </p:nvSpPr>
        <p:spPr>
          <a:xfrm>
            <a:off x="585581" y="2406761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Proposta</a:t>
            </a:r>
            <a:r>
              <a:rPr lang="en-US" sz="25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 e </a:t>
            </a:r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resultados</a:t>
            </a:r>
            <a:endParaRPr lang="en-US" sz="25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3BF8324-5633-2031-9B1B-D9616C6FF1C8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698A78BE-FEA7-5E57-F4F8-C2317DC63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420898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7D50DB8-CC04-0919-9E51-DB4D2F9D11C5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75925665-3708-B455-AB33-F53409235CB5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E3DCC88-5CA7-E2B1-B617-B304C98FF6E1}"/>
              </a:ext>
            </a:extLst>
          </p:cNvPr>
          <p:cNvCxnSpPr>
            <a:cxnSpLocks/>
          </p:cNvCxnSpPr>
          <p:nvPr/>
        </p:nvCxnSpPr>
        <p:spPr>
          <a:xfrm>
            <a:off x="8678430" y="1636569"/>
            <a:ext cx="5716" cy="2177036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BF6E866-3805-7B20-6A38-66B34BA95256}"/>
              </a:ext>
            </a:extLst>
          </p:cNvPr>
          <p:cNvCxnSpPr>
            <a:cxnSpLocks/>
          </p:cNvCxnSpPr>
          <p:nvPr/>
        </p:nvCxnSpPr>
        <p:spPr>
          <a:xfrm>
            <a:off x="8527066" y="1995605"/>
            <a:ext cx="5716" cy="181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0B7C5A82-1F75-4B51-0680-E1C6003251DD}"/>
              </a:ext>
            </a:extLst>
          </p:cNvPr>
          <p:cNvCxnSpPr>
            <a:cxnSpLocks/>
          </p:cNvCxnSpPr>
          <p:nvPr/>
        </p:nvCxnSpPr>
        <p:spPr>
          <a:xfrm>
            <a:off x="8372548" y="2356583"/>
            <a:ext cx="5716" cy="145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7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7884-CC04-B32C-0151-540878BA0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9254CB7F-97D5-3DBA-C010-77F3C3269AD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3EA5ED85-ABEF-A848-93A7-E3E02A04E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5" name="Object4">
            <a:extLst>
              <a:ext uri="{FF2B5EF4-FFF2-40B4-BE49-F238E27FC236}">
                <a16:creationId xmlns:a16="http://schemas.microsoft.com/office/drawing/2014/main" id="{55672E8C-6ECF-E1DB-838F-2B618DBEB20B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1A2A3A-CEBF-34A8-8B7B-4B2B44BD52C4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E6C5FF82-092D-7C98-100B-F87E759DF75F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Alocação Fm Macro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sp>
        <p:nvSpPr>
          <p:cNvPr id="8" name="Object3">
            <a:extLst>
              <a:ext uri="{FF2B5EF4-FFF2-40B4-BE49-F238E27FC236}">
                <a16:creationId xmlns:a16="http://schemas.microsoft.com/office/drawing/2014/main" id="{973183AA-7834-AEC2-39AD-3C4FE4701537}"/>
              </a:ext>
            </a:extLst>
          </p:cNvPr>
          <p:cNvSpPr/>
          <p:nvPr/>
        </p:nvSpPr>
        <p:spPr>
          <a:xfrm>
            <a:off x="585581" y="2406761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Proposta</a:t>
            </a:r>
            <a:r>
              <a:rPr lang="en-US" sz="25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 e </a:t>
            </a:r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resultados</a:t>
            </a:r>
            <a:endParaRPr lang="en-US" sz="25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38A4E39-F398-160C-F237-9BB701033932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F80C69C4-E4C1-644A-1BB5-61B459DEF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420898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B3868796-4872-FCEA-C30A-86B28FD103F5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44658139-734D-D325-7E0B-637771EDE7E4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5A15DDA-D1FD-3F06-34B5-78A0EE108BD1}"/>
              </a:ext>
            </a:extLst>
          </p:cNvPr>
          <p:cNvCxnSpPr>
            <a:cxnSpLocks/>
          </p:cNvCxnSpPr>
          <p:nvPr/>
        </p:nvCxnSpPr>
        <p:spPr>
          <a:xfrm>
            <a:off x="8678430" y="1636569"/>
            <a:ext cx="5716" cy="2177036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58973B8-4DFF-477C-7A94-434CE532CE79}"/>
              </a:ext>
            </a:extLst>
          </p:cNvPr>
          <p:cNvCxnSpPr>
            <a:cxnSpLocks/>
          </p:cNvCxnSpPr>
          <p:nvPr/>
        </p:nvCxnSpPr>
        <p:spPr>
          <a:xfrm>
            <a:off x="8527066" y="1995605"/>
            <a:ext cx="5716" cy="181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F482C578-6D49-DD86-50E1-4FCC07660FD5}"/>
              </a:ext>
            </a:extLst>
          </p:cNvPr>
          <p:cNvCxnSpPr>
            <a:cxnSpLocks/>
          </p:cNvCxnSpPr>
          <p:nvPr/>
        </p:nvCxnSpPr>
        <p:spPr>
          <a:xfrm>
            <a:off x="8372548" y="2356583"/>
            <a:ext cx="5716" cy="145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2680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2CE8-51F4-BDE8-0E5C-C7D06DC6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7E577090-9575-C866-4A09-CBDF11D9FA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81" b="4990"/>
          <a:stretch/>
        </p:blipFill>
        <p:spPr>
          <a:xfrm>
            <a:off x="-120" y="-3441"/>
            <a:ext cx="3952688" cy="526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915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FA1AA-A2C8-31B8-9234-06FC3E1B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091EDD73-7316-4A65-71B8-D30D85FC578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>
              <a:alpha val="9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EE411ADD-2C37-F631-315F-F8EB57205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5" name="Object4">
            <a:extLst>
              <a:ext uri="{FF2B5EF4-FFF2-40B4-BE49-F238E27FC236}">
                <a16:creationId xmlns:a16="http://schemas.microsoft.com/office/drawing/2014/main" id="{9097BF83-96C0-2212-2415-2892DD6C3B28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13013B-D013-3D1F-8953-A1F1B4ECE7B0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D776F84E-0E26-7793-B500-2984518F2C45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Alocação Fm Macro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sp>
        <p:nvSpPr>
          <p:cNvPr id="8" name="Object3">
            <a:extLst>
              <a:ext uri="{FF2B5EF4-FFF2-40B4-BE49-F238E27FC236}">
                <a16:creationId xmlns:a16="http://schemas.microsoft.com/office/drawing/2014/main" id="{B62D42D6-C524-513C-4B39-20F78C5380AA}"/>
              </a:ext>
            </a:extLst>
          </p:cNvPr>
          <p:cNvSpPr/>
          <p:nvPr/>
        </p:nvSpPr>
        <p:spPr>
          <a:xfrm>
            <a:off x="585581" y="2406761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Proposta</a:t>
            </a:r>
            <a:r>
              <a:rPr lang="en-US" sz="25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 e </a:t>
            </a:r>
            <a:r>
              <a:rPr lang="en-US" sz="25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resultados</a:t>
            </a:r>
            <a:endParaRPr lang="en-US" sz="25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A055C40-A9B5-5B0B-5843-54C471BDB282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FBBDF639-509D-9A56-5D92-078FF6D77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050" y="420898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62AF693-36A6-16C9-1EC0-ACDEF1E8BB49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B786CC84-B2B9-3EDB-7B52-AB4A7B5282A9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474C6E4-E2EF-00D5-70A3-F3907C0440FC}"/>
              </a:ext>
            </a:extLst>
          </p:cNvPr>
          <p:cNvCxnSpPr>
            <a:cxnSpLocks/>
          </p:cNvCxnSpPr>
          <p:nvPr/>
        </p:nvCxnSpPr>
        <p:spPr>
          <a:xfrm>
            <a:off x="8678430" y="1636569"/>
            <a:ext cx="5716" cy="2177036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493CED4-9127-BCEA-40A0-3CC64740FA8E}"/>
              </a:ext>
            </a:extLst>
          </p:cNvPr>
          <p:cNvCxnSpPr>
            <a:cxnSpLocks/>
          </p:cNvCxnSpPr>
          <p:nvPr/>
        </p:nvCxnSpPr>
        <p:spPr>
          <a:xfrm>
            <a:off x="8527066" y="1995605"/>
            <a:ext cx="5716" cy="181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C70466EA-B096-17BB-CA7D-52425F64DD36}"/>
              </a:ext>
            </a:extLst>
          </p:cNvPr>
          <p:cNvCxnSpPr>
            <a:cxnSpLocks/>
          </p:cNvCxnSpPr>
          <p:nvPr/>
        </p:nvCxnSpPr>
        <p:spPr>
          <a:xfrm>
            <a:off x="8372548" y="2356583"/>
            <a:ext cx="5716" cy="1458000"/>
          </a:xfrm>
          <a:prstGeom prst="line">
            <a:avLst/>
          </a:prstGeom>
          <a:ln w="76200">
            <a:solidFill>
              <a:srgbClr val="64C8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03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C6322-A7DF-1ABD-917F-286E1D687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3F145D26-D34B-FED8-D4AF-2892DB5F1DEF}"/>
              </a:ext>
            </a:extLst>
          </p:cNvPr>
          <p:cNvSpPr/>
          <p:nvPr/>
        </p:nvSpPr>
        <p:spPr>
          <a:xfrm>
            <a:off x="0" y="0"/>
            <a:ext cx="8155908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Paralelogramo 3">
            <a:extLst>
              <a:ext uri="{FF2B5EF4-FFF2-40B4-BE49-F238E27FC236}">
                <a16:creationId xmlns:a16="http://schemas.microsoft.com/office/drawing/2014/main" id="{5BD25A40-D571-AF56-C433-150F85404EB0}"/>
              </a:ext>
            </a:extLst>
          </p:cNvPr>
          <p:cNvSpPr/>
          <p:nvPr/>
        </p:nvSpPr>
        <p:spPr>
          <a:xfrm>
            <a:off x="5913310" y="0"/>
            <a:ext cx="5521520" cy="5143500"/>
          </a:xfrm>
          <a:prstGeom prst="parallelogram">
            <a:avLst>
              <a:gd name="adj" fmla="val 32814"/>
            </a:avLst>
          </a:prstGeom>
          <a:solidFill>
            <a:srgbClr val="64C832"/>
          </a:solidFill>
          <a:ln>
            <a:solidFill>
              <a:srgbClr val="64C8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FAFED90-A15D-A53E-721A-2CD43F6BE719}"/>
              </a:ext>
            </a:extLst>
          </p:cNvPr>
          <p:cNvSpPr txBox="1"/>
          <p:nvPr/>
        </p:nvSpPr>
        <p:spPr>
          <a:xfrm>
            <a:off x="988092" y="1331642"/>
            <a:ext cx="5013565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750" dirty="0">
                <a:solidFill>
                  <a:schemeClr val="bg1"/>
                </a:solidFill>
                <a:latin typeface="Exo 2.0" pitchFamily="2" charset="77"/>
              </a:rPr>
              <a:t>Diversificação</a:t>
            </a:r>
          </a:p>
        </p:txBody>
      </p:sp>
      <p:pic>
        <p:nvPicPr>
          <p:cNvPr id="12" name="Object 4" descr="preencoded.png">
            <a:extLst>
              <a:ext uri="{FF2B5EF4-FFF2-40B4-BE49-F238E27FC236}">
                <a16:creationId xmlns:a16="http://schemas.microsoft.com/office/drawing/2014/main" id="{EE30C48B-C9E2-D347-6F76-A0F032318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075" y="266319"/>
            <a:ext cx="381000" cy="381000"/>
          </a:xfrm>
          <a:prstGeom prst="rect">
            <a:avLst/>
          </a:prstGeom>
        </p:spPr>
      </p:pic>
      <p:pic>
        <p:nvPicPr>
          <p:cNvPr id="13" name="Object 1" descr="preencoded.png">
            <a:extLst>
              <a:ext uri="{FF2B5EF4-FFF2-40B4-BE49-F238E27FC236}">
                <a16:creationId xmlns:a16="http://schemas.microsoft.com/office/drawing/2014/main" id="{A0382EA1-3E34-4BFB-54B9-8D475B2D0D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0" y="4772025"/>
            <a:ext cx="9144000" cy="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7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1A5A-4EAC-2314-0CA9-09DBB4B0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96C295B-4B4F-86C2-3040-3D74C4836EFF}"/>
              </a:ext>
            </a:extLst>
          </p:cNvPr>
          <p:cNvSpPr/>
          <p:nvPr/>
        </p:nvSpPr>
        <p:spPr>
          <a:xfrm>
            <a:off x="1304468" y="3504612"/>
            <a:ext cx="6694895" cy="763176"/>
          </a:xfrm>
          <a:prstGeom prst="rect">
            <a:avLst/>
          </a:prstGeom>
          <a:solidFill>
            <a:srgbClr val="64C8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95DB33F-83CD-B5DB-AE45-512F3D080B54}"/>
              </a:ext>
            </a:extLst>
          </p:cNvPr>
          <p:cNvSpPr/>
          <p:nvPr/>
        </p:nvSpPr>
        <p:spPr>
          <a:xfrm>
            <a:off x="2020811" y="968882"/>
            <a:ext cx="79396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6B4E837-0B43-6DF3-7AB6-247C69431E34}"/>
              </a:ext>
            </a:extLst>
          </p:cNvPr>
          <p:cNvSpPr/>
          <p:nvPr/>
        </p:nvSpPr>
        <p:spPr>
          <a:xfrm>
            <a:off x="6196681" y="972723"/>
            <a:ext cx="793967" cy="15799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02C2F1F-FD9D-BF5B-AB13-E24073BE2618}"/>
              </a:ext>
            </a:extLst>
          </p:cNvPr>
          <p:cNvSpPr txBox="1">
            <a:spLocks/>
          </p:cNvSpPr>
          <p:nvPr/>
        </p:nvSpPr>
        <p:spPr>
          <a:xfrm>
            <a:off x="307317" y="343181"/>
            <a:ext cx="8240684" cy="229020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pt-BR"/>
            </a:defPPr>
            <a:lvl1pPr marR="0" lvl="0" indent="0" defTabSz="914377" fontAlgn="auto">
              <a:lnSpc>
                <a:spcPts val="2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600" b="1" i="1" u="none" strike="noStrike" cap="none" spc="0" normalizeH="0" baseline="0">
                <a:ln>
                  <a:noFill/>
                </a:ln>
                <a:solidFill>
                  <a:srgbClr val="0A4B1E"/>
                </a:solidFill>
                <a:effectLst/>
                <a:uLnTx/>
                <a:uFillTx/>
                <a:latin typeface="Exo 2.0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pt-BR" sz="2400" dirty="0"/>
              <a:t>Modelo Black-</a:t>
            </a:r>
            <a:r>
              <a:rPr lang="pt-BR" sz="2400" dirty="0" err="1"/>
              <a:t>Litterman</a:t>
            </a:r>
            <a:endParaRPr lang="pt-BR" sz="2400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27085D9-D824-4620-0085-2BD1C478CAA8}"/>
              </a:ext>
            </a:extLst>
          </p:cNvPr>
          <p:cNvGrpSpPr/>
          <p:nvPr/>
        </p:nvGrpSpPr>
        <p:grpSpPr>
          <a:xfrm>
            <a:off x="-254744" y="807597"/>
            <a:ext cx="916995" cy="222554"/>
            <a:chOff x="7541592" y="4679719"/>
            <a:chExt cx="560837" cy="136115"/>
          </a:xfrm>
          <a:solidFill>
            <a:srgbClr val="3FA110"/>
          </a:solidFill>
        </p:grpSpPr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FE5E57AC-08EB-DDED-9938-CC86408F8179}"/>
                </a:ext>
              </a:extLst>
            </p:cNvPr>
            <p:cNvSpPr/>
            <p:nvPr/>
          </p:nvSpPr>
          <p:spPr>
            <a:xfrm>
              <a:off x="7541592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3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7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3" y="1717"/>
                  </a:cubicBezTo>
                  <a:cubicBezTo>
                    <a:pt x="130114" y="4194"/>
                    <a:pt x="130210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D4867DF6-E276-EC31-AF89-AF6BF4CF346B}"/>
                </a:ext>
              </a:extLst>
            </p:cNvPr>
            <p:cNvSpPr/>
            <p:nvPr/>
          </p:nvSpPr>
          <p:spPr>
            <a:xfrm>
              <a:off x="7629127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A7933BD1-93FB-EFD3-E4FA-7468F0DAC9A4}"/>
                </a:ext>
              </a:extLst>
            </p:cNvPr>
            <p:cNvSpPr/>
            <p:nvPr/>
          </p:nvSpPr>
          <p:spPr>
            <a:xfrm>
              <a:off x="7712471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D82128F2-163B-253B-3604-F9D2E10BC9EF}"/>
                </a:ext>
              </a:extLst>
            </p:cNvPr>
            <p:cNvSpPr/>
            <p:nvPr/>
          </p:nvSpPr>
          <p:spPr>
            <a:xfrm>
              <a:off x="7800006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CF373A8B-B72C-2AD1-1F15-9C27279A08E6}"/>
                </a:ext>
              </a:extLst>
            </p:cNvPr>
            <p:cNvSpPr/>
            <p:nvPr/>
          </p:nvSpPr>
          <p:spPr>
            <a:xfrm>
              <a:off x="7885350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059E760B-3F0F-FC17-4D18-7118E40A18B0}"/>
                </a:ext>
              </a:extLst>
            </p:cNvPr>
            <p:cNvSpPr/>
            <p:nvPr/>
          </p:nvSpPr>
          <p:spPr>
            <a:xfrm>
              <a:off x="7972884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3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0" y="136115"/>
                    <a:pt x="3337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3" y="1717"/>
                  </a:cubicBezTo>
                  <a:cubicBezTo>
                    <a:pt x="130114" y="4194"/>
                    <a:pt x="130210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</p:grpSp>
      <p:sp>
        <p:nvSpPr>
          <p:cNvPr id="21" name="Rectangle 34">
            <a:extLst>
              <a:ext uri="{FF2B5EF4-FFF2-40B4-BE49-F238E27FC236}">
                <a16:creationId xmlns:a16="http://schemas.microsoft.com/office/drawing/2014/main" id="{5C370C49-BC15-76EF-AFE1-5D0206392B93}"/>
              </a:ext>
            </a:extLst>
          </p:cNvPr>
          <p:cNvSpPr/>
          <p:nvPr/>
        </p:nvSpPr>
        <p:spPr>
          <a:xfrm>
            <a:off x="1298176" y="1218033"/>
            <a:ext cx="6695931" cy="3088926"/>
          </a:xfrm>
          <a:prstGeom prst="rect">
            <a:avLst/>
          </a:prstGeom>
        </p:spPr>
        <p:txBody>
          <a:bodyPr wrap="square" lIns="72013" tIns="36006" rIns="72013" bIns="36006" anchor="t">
            <a:spAutoFit/>
          </a:bodyPr>
          <a:lstStyle/>
          <a:p>
            <a:pPr defTabSz="426715"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Capitulo IV dispõe sobre os requisitos prudências aplicáveis à captação de recursos de munícipios, seus órgãos ou empresas controladas. Entre outros:</a:t>
            </a:r>
          </a:p>
          <a:p>
            <a:pPr defTabSz="426715">
              <a:defRPr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Valor que exceder o limite de cobertura de fundo garantidor deve estar aplicado em títulos públicos federais.</a:t>
            </a: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Os títulos públicos devem estar custodiados em conta de custódia normal da cooperativa no Selic.</a:t>
            </a: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Não podem ser objetos de aval, garantias ou gravames.</a:t>
            </a: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171450" indent="-171450" defTabSz="426715">
              <a:buClr>
                <a:srgbClr val="548235"/>
              </a:buClr>
              <a:buSzPct val="108000"/>
              <a:buFont typeface="Wingdings" panose="05000000000000000000" pitchFamily="2" charset="2"/>
              <a:buChar char="§"/>
              <a:defRPr/>
            </a:pP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É facultada </a:t>
            </a:r>
            <a:r>
              <a:rPr lang="pt-BR" sz="14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aplicação centralizada dos recursos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. Desde que a cooperativa central de crédito responsável possua </a:t>
            </a:r>
            <a:r>
              <a:rPr lang="pt-BR" sz="14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política especifica 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para prestação desse serviço.</a:t>
            </a:r>
          </a:p>
        </p:txBody>
      </p:sp>
      <p:sp>
        <p:nvSpPr>
          <p:cNvPr id="76" name="Rectangle 13">
            <a:extLst>
              <a:ext uri="{FF2B5EF4-FFF2-40B4-BE49-F238E27FC236}">
                <a16:creationId xmlns:a16="http://schemas.microsoft.com/office/drawing/2014/main" id="{75351DC4-87A9-7A82-60DE-C32B2DC2721D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6F63A7AC-92AA-CA2C-BDFB-E3D104E27046}"/>
              </a:ext>
            </a:extLst>
          </p:cNvPr>
          <p:cNvCxnSpPr>
            <a:cxnSpLocks/>
          </p:cNvCxnSpPr>
          <p:nvPr/>
        </p:nvCxnSpPr>
        <p:spPr>
          <a:xfrm flipH="1" flipV="1">
            <a:off x="1285225" y="1257300"/>
            <a:ext cx="19243" cy="3010488"/>
          </a:xfrm>
          <a:prstGeom prst="line">
            <a:avLst/>
          </a:prstGeom>
          <a:ln>
            <a:solidFill>
              <a:srgbClr val="5482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3">
            <a:extLst>
              <a:ext uri="{FF2B5EF4-FFF2-40B4-BE49-F238E27FC236}">
                <a16:creationId xmlns:a16="http://schemas.microsoft.com/office/drawing/2014/main" id="{50E92B79-1753-9463-E65E-F2B04E95E888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75BB964F-24AB-8B38-53D4-5D12B319C6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2867E82-F9FB-B1D7-803B-577916C1BD4F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FD33DF5B-F908-5B71-145D-B6BE017B263B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229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AB7D-C99C-041D-ECB0-22764C64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BFCFC01-D983-D473-F699-AD572EC23175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EB46B04-9C33-F6B4-A076-457FF80292D1}"/>
              </a:ext>
            </a:extLst>
          </p:cNvPr>
          <p:cNvSpPr/>
          <p:nvPr/>
        </p:nvSpPr>
        <p:spPr>
          <a:xfrm>
            <a:off x="4844113" y="-1"/>
            <a:ext cx="4299887" cy="5143501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8" name="Retângulo 127">
            <a:extLst>
              <a:ext uri="{FF2B5EF4-FFF2-40B4-BE49-F238E27FC236}">
                <a16:creationId xmlns:a16="http://schemas.microsoft.com/office/drawing/2014/main" id="{696C1CDB-9A56-42CA-70E0-4B1675C47915}"/>
              </a:ext>
            </a:extLst>
          </p:cNvPr>
          <p:cNvSpPr/>
          <p:nvPr/>
        </p:nvSpPr>
        <p:spPr>
          <a:xfrm>
            <a:off x="4989765" y="3970472"/>
            <a:ext cx="3874469" cy="850994"/>
          </a:xfrm>
          <a:prstGeom prst="rect">
            <a:avLst/>
          </a:prstGeom>
          <a:solidFill>
            <a:srgbClr val="64C83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C60B765-8920-EDAD-6073-E1E8636741EC}"/>
              </a:ext>
            </a:extLst>
          </p:cNvPr>
          <p:cNvSpPr/>
          <p:nvPr/>
        </p:nvSpPr>
        <p:spPr>
          <a:xfrm>
            <a:off x="3286090" y="1559730"/>
            <a:ext cx="1176481" cy="2068640"/>
          </a:xfrm>
          <a:prstGeom prst="rect">
            <a:avLst/>
          </a:prstGeom>
          <a:solidFill>
            <a:srgbClr val="64C832">
              <a:alpha val="24000"/>
            </a:srgbClr>
          </a:solidFill>
          <a:ln>
            <a:solidFill>
              <a:srgbClr val="64C83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168BFF1-8073-40FA-16DF-C549F62FBA7F}"/>
              </a:ext>
            </a:extLst>
          </p:cNvPr>
          <p:cNvSpPr/>
          <p:nvPr/>
        </p:nvSpPr>
        <p:spPr>
          <a:xfrm>
            <a:off x="2020811" y="968882"/>
            <a:ext cx="79396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8614882-3F6B-F936-9829-477E678852BC}"/>
              </a:ext>
            </a:extLst>
          </p:cNvPr>
          <p:cNvGrpSpPr/>
          <p:nvPr/>
        </p:nvGrpSpPr>
        <p:grpSpPr>
          <a:xfrm>
            <a:off x="-231563" y="1011717"/>
            <a:ext cx="916995" cy="222554"/>
            <a:chOff x="7541592" y="4679719"/>
            <a:chExt cx="560837" cy="136115"/>
          </a:xfrm>
          <a:solidFill>
            <a:srgbClr val="3FA110"/>
          </a:solidFill>
        </p:grpSpPr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A3AC841E-0963-D238-9DC1-080076198E57}"/>
                </a:ext>
              </a:extLst>
            </p:cNvPr>
            <p:cNvSpPr/>
            <p:nvPr/>
          </p:nvSpPr>
          <p:spPr>
            <a:xfrm>
              <a:off x="7541592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3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7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3" y="1717"/>
                  </a:cubicBezTo>
                  <a:cubicBezTo>
                    <a:pt x="130114" y="4194"/>
                    <a:pt x="130210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D61943D2-EB41-DFDF-1B24-399F3FF62E4F}"/>
                </a:ext>
              </a:extLst>
            </p:cNvPr>
            <p:cNvSpPr/>
            <p:nvPr/>
          </p:nvSpPr>
          <p:spPr>
            <a:xfrm>
              <a:off x="7629127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B7814D10-FFB4-D7F9-9D80-A1CE484328C2}"/>
                </a:ext>
              </a:extLst>
            </p:cNvPr>
            <p:cNvSpPr/>
            <p:nvPr/>
          </p:nvSpPr>
          <p:spPr>
            <a:xfrm>
              <a:off x="7712471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B6FD3F87-6953-9334-0192-CCE3C3DBCFDC}"/>
                </a:ext>
              </a:extLst>
            </p:cNvPr>
            <p:cNvSpPr/>
            <p:nvPr/>
          </p:nvSpPr>
          <p:spPr>
            <a:xfrm>
              <a:off x="7800006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05050E40-816E-6849-242B-E8F149EE3DA3}"/>
                </a:ext>
              </a:extLst>
            </p:cNvPr>
            <p:cNvSpPr/>
            <p:nvPr/>
          </p:nvSpPr>
          <p:spPr>
            <a:xfrm>
              <a:off x="7885350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2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1" y="136115"/>
                    <a:pt x="3336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2" y="1717"/>
                  </a:cubicBezTo>
                  <a:cubicBezTo>
                    <a:pt x="130114" y="4194"/>
                    <a:pt x="130209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FD7A002B-71F1-59BE-53A6-1185E78B63DC}"/>
                </a:ext>
              </a:extLst>
            </p:cNvPr>
            <p:cNvSpPr/>
            <p:nvPr/>
          </p:nvSpPr>
          <p:spPr>
            <a:xfrm>
              <a:off x="7972884" y="4679719"/>
              <a:ext cx="129545" cy="136115"/>
            </a:xfrm>
            <a:custGeom>
              <a:avLst/>
              <a:gdLst>
                <a:gd name="connsiteX0" fmla="*/ 6480 w 129545"/>
                <a:gd name="connsiteY0" fmla="*/ 136115 h 136115"/>
                <a:gd name="connsiteX1" fmla="*/ 2003 w 129545"/>
                <a:gd name="connsiteY1" fmla="*/ 134305 h 136115"/>
                <a:gd name="connsiteX2" fmla="*/ 1717 w 129545"/>
                <a:gd name="connsiteY2" fmla="*/ 125161 h 136115"/>
                <a:gd name="connsiteX3" fmla="*/ 118398 w 129545"/>
                <a:gd name="connsiteY3" fmla="*/ 2003 h 136115"/>
                <a:gd name="connsiteX4" fmla="*/ 127543 w 129545"/>
                <a:gd name="connsiteY4" fmla="*/ 1717 h 136115"/>
                <a:gd name="connsiteX5" fmla="*/ 127828 w 129545"/>
                <a:gd name="connsiteY5" fmla="*/ 10861 h 136115"/>
                <a:gd name="connsiteX6" fmla="*/ 11147 w 129545"/>
                <a:gd name="connsiteY6" fmla="*/ 134020 h 136115"/>
                <a:gd name="connsiteX7" fmla="*/ 6480 w 129545"/>
                <a:gd name="connsiteY7" fmla="*/ 136020 h 13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545" h="136115">
                  <a:moveTo>
                    <a:pt x="6480" y="136115"/>
                  </a:moveTo>
                  <a:cubicBezTo>
                    <a:pt x="4860" y="136115"/>
                    <a:pt x="3337" y="135544"/>
                    <a:pt x="2003" y="134305"/>
                  </a:cubicBezTo>
                  <a:cubicBezTo>
                    <a:pt x="-569" y="131829"/>
                    <a:pt x="-664" y="127733"/>
                    <a:pt x="1717" y="125161"/>
                  </a:cubicBezTo>
                  <a:lnTo>
                    <a:pt x="118398" y="2003"/>
                  </a:lnTo>
                  <a:cubicBezTo>
                    <a:pt x="120875" y="-569"/>
                    <a:pt x="124971" y="-664"/>
                    <a:pt x="127543" y="1717"/>
                  </a:cubicBezTo>
                  <a:cubicBezTo>
                    <a:pt x="130114" y="4194"/>
                    <a:pt x="130210" y="8289"/>
                    <a:pt x="127828" y="10861"/>
                  </a:cubicBezTo>
                  <a:lnTo>
                    <a:pt x="11147" y="134020"/>
                  </a:lnTo>
                  <a:cubicBezTo>
                    <a:pt x="9909" y="135353"/>
                    <a:pt x="8194" y="136020"/>
                    <a:pt x="6480" y="13602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013"/>
            </a:p>
          </p:txBody>
        </p:sp>
      </p:grpSp>
      <p:sp>
        <p:nvSpPr>
          <p:cNvPr id="16" name="Retângulo 15">
            <a:extLst>
              <a:ext uri="{FF2B5EF4-FFF2-40B4-BE49-F238E27FC236}">
                <a16:creationId xmlns:a16="http://schemas.microsoft.com/office/drawing/2014/main" id="{B2B696C6-32F5-D08D-4428-09495A0393BA}"/>
              </a:ext>
            </a:extLst>
          </p:cNvPr>
          <p:cNvSpPr/>
          <p:nvPr/>
        </p:nvSpPr>
        <p:spPr>
          <a:xfrm>
            <a:off x="371043" y="668623"/>
            <a:ext cx="5034819" cy="32367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1" u="none" strike="noStrike" kern="1200" cap="none" normalizeH="0" noProof="0" dirty="0">
                <a:ln>
                  <a:noFill/>
                </a:ln>
                <a:solidFill>
                  <a:srgbClr val="3FA110"/>
                </a:solidFill>
                <a:effectLst/>
                <a:uLnTx/>
                <a:uFillTx/>
                <a:latin typeface="Exo 2.0" panose="00000500000000000000" pitchFamily="50" charset="0"/>
                <a:ea typeface="Verdana" panose="020B0604030504040204" pitchFamily="34" charset="0"/>
                <a:cs typeface="Calibri" panose="020F0502020204030204" pitchFamily="34" charset="0"/>
              </a:rPr>
              <a:t>Estrutura atual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5E8AE52-F672-378A-ED6D-F7C4B6C3D846}"/>
              </a:ext>
            </a:extLst>
          </p:cNvPr>
          <p:cNvSpPr/>
          <p:nvPr/>
        </p:nvSpPr>
        <p:spPr>
          <a:xfrm>
            <a:off x="503265" y="3342839"/>
            <a:ext cx="2193550" cy="970796"/>
          </a:xfrm>
          <a:prstGeom prst="rect">
            <a:avLst/>
          </a:prstGeom>
          <a:solidFill>
            <a:schemeClr val="accent4">
              <a:alpha val="24000"/>
            </a:schemeClr>
          </a:solidFill>
          <a:ln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0E36E72-5285-9CD4-344E-8584FB967AB4}"/>
              </a:ext>
            </a:extLst>
          </p:cNvPr>
          <p:cNvGrpSpPr/>
          <p:nvPr/>
        </p:nvGrpSpPr>
        <p:grpSpPr>
          <a:xfrm>
            <a:off x="1138686" y="1676009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id="{C1425F2D-C2BC-95FB-D46B-85C92D7937D0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26" name="Retângulo: Cantos Arredondados 25">
                <a:extLst>
                  <a:ext uri="{FF2B5EF4-FFF2-40B4-BE49-F238E27FC236}">
                    <a16:creationId xmlns:a16="http://schemas.microsoft.com/office/drawing/2014/main" id="{B9F732C7-988A-8BD4-FED5-1677DD77F6D4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27" name="Retângulo 26">
                <a:extLst>
                  <a:ext uri="{FF2B5EF4-FFF2-40B4-BE49-F238E27FC236}">
                    <a16:creationId xmlns:a16="http://schemas.microsoft.com/office/drawing/2014/main" id="{49DA1A29-0BD5-D79C-A01B-D83E104254A3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DE6CF56C-CE4E-702D-E6C9-C9410286E9D9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Singulares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E1257B7-0B4D-BE93-6886-1638E5D98DDD}"/>
              </a:ext>
            </a:extLst>
          </p:cNvPr>
          <p:cNvGrpSpPr/>
          <p:nvPr/>
        </p:nvGrpSpPr>
        <p:grpSpPr>
          <a:xfrm>
            <a:off x="1138686" y="2429747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F287B3DB-A643-3422-94C6-ED80A4D91643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33" name="Retângulo: Cantos Arredondados 32">
                <a:extLst>
                  <a:ext uri="{FF2B5EF4-FFF2-40B4-BE49-F238E27FC236}">
                    <a16:creationId xmlns:a16="http://schemas.microsoft.com/office/drawing/2014/main" id="{841AD433-5B33-A265-67CA-EF94B6EFAC1B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34" name="Retângulo 33">
                <a:extLst>
                  <a:ext uri="{FF2B5EF4-FFF2-40B4-BE49-F238E27FC236}">
                    <a16:creationId xmlns:a16="http://schemas.microsoft.com/office/drawing/2014/main" id="{C776FE02-AB34-CA2D-0D29-327DB2DFBF41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30" name="TextBox 16">
              <a:extLst>
                <a:ext uri="{FF2B5EF4-FFF2-40B4-BE49-F238E27FC236}">
                  <a16:creationId xmlns:a16="http://schemas.microsoft.com/office/drawing/2014/main" id="{712FDC7B-2CA9-59AB-0A94-6E431A07A7B5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Centrais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69EE506C-3A69-38F5-2C9D-AB7702FE31FD}"/>
              </a:ext>
            </a:extLst>
          </p:cNvPr>
          <p:cNvGrpSpPr/>
          <p:nvPr/>
        </p:nvGrpSpPr>
        <p:grpSpPr>
          <a:xfrm>
            <a:off x="1660860" y="3431778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57E39642-4889-2C5E-E6BD-F4EE984056D6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38" name="Retângulo: Cantos Arredondados 37">
                <a:extLst>
                  <a:ext uri="{FF2B5EF4-FFF2-40B4-BE49-F238E27FC236}">
                    <a16:creationId xmlns:a16="http://schemas.microsoft.com/office/drawing/2014/main" id="{CBFECAD3-8359-F529-3449-04F45E060FC9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39" name="Retângulo 38">
                <a:extLst>
                  <a:ext uri="{FF2B5EF4-FFF2-40B4-BE49-F238E27FC236}">
                    <a16:creationId xmlns:a16="http://schemas.microsoft.com/office/drawing/2014/main" id="{74046B07-D4ED-8584-7081-E329E661D070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37" name="TextBox 16">
              <a:extLst>
                <a:ext uri="{FF2B5EF4-FFF2-40B4-BE49-F238E27FC236}">
                  <a16:creationId xmlns:a16="http://schemas.microsoft.com/office/drawing/2014/main" id="{679A054D-23E9-470A-08F0-D19500BEB9CE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CFIN Liquidez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F37BEB40-62AD-CF5C-FC4A-EF4DB92C112D}"/>
              </a:ext>
            </a:extLst>
          </p:cNvPr>
          <p:cNvGrpSpPr/>
          <p:nvPr/>
        </p:nvGrpSpPr>
        <p:grpSpPr>
          <a:xfrm>
            <a:off x="1672220" y="3879324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66B64A65-B187-00CC-F2D0-15C9C693F424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43" name="Retângulo: Cantos Arredondados 42">
                <a:extLst>
                  <a:ext uri="{FF2B5EF4-FFF2-40B4-BE49-F238E27FC236}">
                    <a16:creationId xmlns:a16="http://schemas.microsoft.com/office/drawing/2014/main" id="{C7364727-8745-F88E-B207-76AD35DE21F5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44" name="Retângulo 43">
                <a:extLst>
                  <a:ext uri="{FF2B5EF4-FFF2-40B4-BE49-F238E27FC236}">
                    <a16:creationId xmlns:a16="http://schemas.microsoft.com/office/drawing/2014/main" id="{EBA0044A-5B66-967E-08FF-31758472E054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42" name="TextBox 16">
              <a:extLst>
                <a:ext uri="{FF2B5EF4-FFF2-40B4-BE49-F238E27FC236}">
                  <a16:creationId xmlns:a16="http://schemas.microsoft.com/office/drawing/2014/main" id="{AC392876-4A93-6306-D08D-E7B244F2A9E6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DVR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DF002372-1A21-2807-5916-A36BF8670016}"/>
              </a:ext>
            </a:extLst>
          </p:cNvPr>
          <p:cNvGrpSpPr/>
          <p:nvPr/>
        </p:nvGrpSpPr>
        <p:grpSpPr>
          <a:xfrm>
            <a:off x="3383651" y="1682223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9138E0CA-D7B4-3D58-7BE3-D752E43F56FA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53" name="Retângulo: Cantos Arredondados 52">
                <a:extLst>
                  <a:ext uri="{FF2B5EF4-FFF2-40B4-BE49-F238E27FC236}">
                    <a16:creationId xmlns:a16="http://schemas.microsoft.com/office/drawing/2014/main" id="{E6045A2C-86F8-A63E-7D3B-1B69D771221F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54" name="Retângulo 53">
                <a:extLst>
                  <a:ext uri="{FF2B5EF4-FFF2-40B4-BE49-F238E27FC236}">
                    <a16:creationId xmlns:a16="http://schemas.microsoft.com/office/drawing/2014/main" id="{4381669E-DACF-5679-A087-7052DCD243D6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52" name="TextBox 16">
              <a:extLst>
                <a:ext uri="{FF2B5EF4-FFF2-40B4-BE49-F238E27FC236}">
                  <a16:creationId xmlns:a16="http://schemas.microsoft.com/office/drawing/2014/main" id="{70AA0059-DF41-4565-68B6-8C78D03246DD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CFIN Liquidez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3018E4F5-84E9-D58B-75F5-2C1308C23005}"/>
              </a:ext>
            </a:extLst>
          </p:cNvPr>
          <p:cNvGrpSpPr/>
          <p:nvPr/>
        </p:nvGrpSpPr>
        <p:grpSpPr>
          <a:xfrm>
            <a:off x="3383650" y="2071774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CB55431D-92E7-57CF-4357-9CD124938B0F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58" name="Retângulo: Cantos Arredondados 57">
                <a:extLst>
                  <a:ext uri="{FF2B5EF4-FFF2-40B4-BE49-F238E27FC236}">
                    <a16:creationId xmlns:a16="http://schemas.microsoft.com/office/drawing/2014/main" id="{1CBD71E7-98B1-FF92-0CCE-C19AA1D3FF36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59" name="Retângulo 58">
                <a:extLst>
                  <a:ext uri="{FF2B5EF4-FFF2-40B4-BE49-F238E27FC236}">
                    <a16:creationId xmlns:a16="http://schemas.microsoft.com/office/drawing/2014/main" id="{8B890485-95D9-2752-21DF-96510661B993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57" name="TextBox 16">
              <a:extLst>
                <a:ext uri="{FF2B5EF4-FFF2-40B4-BE49-F238E27FC236}">
                  <a16:creationId xmlns:a16="http://schemas.microsoft.com/office/drawing/2014/main" id="{11D68648-A989-6D0C-388B-D50EBD22E582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CFIN Crédito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F1BB528A-6BE1-BA7C-51E2-992C1BF35068}"/>
              </a:ext>
            </a:extLst>
          </p:cNvPr>
          <p:cNvGrpSpPr/>
          <p:nvPr/>
        </p:nvGrpSpPr>
        <p:grpSpPr>
          <a:xfrm>
            <a:off x="3391749" y="2460945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61" name="Agrupar 60">
              <a:extLst>
                <a:ext uri="{FF2B5EF4-FFF2-40B4-BE49-F238E27FC236}">
                  <a16:creationId xmlns:a16="http://schemas.microsoft.com/office/drawing/2014/main" id="{A5A4FBEF-741F-D32E-F049-DB0A15F0C6F0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63" name="Retângulo: Cantos Arredondados 62">
                <a:extLst>
                  <a:ext uri="{FF2B5EF4-FFF2-40B4-BE49-F238E27FC236}">
                    <a16:creationId xmlns:a16="http://schemas.microsoft.com/office/drawing/2014/main" id="{DC51FE35-853A-B1E1-A583-7DD876840C22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64" name="Retângulo 63">
                <a:extLst>
                  <a:ext uri="{FF2B5EF4-FFF2-40B4-BE49-F238E27FC236}">
                    <a16:creationId xmlns:a16="http://schemas.microsoft.com/office/drawing/2014/main" id="{F4777F9A-CBF6-4DBF-4247-45A0267A2C73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62" name="TextBox 16">
              <a:extLst>
                <a:ext uri="{FF2B5EF4-FFF2-40B4-BE49-F238E27FC236}">
                  <a16:creationId xmlns:a16="http://schemas.microsoft.com/office/drawing/2014/main" id="{2C1CFDEB-1CAC-E72F-6566-B3FA576F551E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CFIN Plenas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590769DB-A240-3E37-6717-0CFB02527189}"/>
              </a:ext>
            </a:extLst>
          </p:cNvPr>
          <p:cNvGrpSpPr/>
          <p:nvPr/>
        </p:nvGrpSpPr>
        <p:grpSpPr>
          <a:xfrm>
            <a:off x="3394578" y="2840788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66" name="Agrupar 65">
              <a:extLst>
                <a:ext uri="{FF2B5EF4-FFF2-40B4-BE49-F238E27FC236}">
                  <a16:creationId xmlns:a16="http://schemas.microsoft.com/office/drawing/2014/main" id="{58A02D39-8668-98B7-8892-F6F221ABFC33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68" name="Retângulo: Cantos Arredondados 67">
                <a:extLst>
                  <a:ext uri="{FF2B5EF4-FFF2-40B4-BE49-F238E27FC236}">
                    <a16:creationId xmlns:a16="http://schemas.microsoft.com/office/drawing/2014/main" id="{2BCCA3F9-CA27-6815-682B-195FBCA0D830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69" name="Retângulo 68">
                <a:extLst>
                  <a:ext uri="{FF2B5EF4-FFF2-40B4-BE49-F238E27FC236}">
                    <a16:creationId xmlns:a16="http://schemas.microsoft.com/office/drawing/2014/main" id="{CDF9EA34-9B15-26CD-4FCF-A72F6E0503AF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67" name="TextBox 16">
              <a:extLst>
                <a:ext uri="{FF2B5EF4-FFF2-40B4-BE49-F238E27FC236}">
                  <a16:creationId xmlns:a16="http://schemas.microsoft.com/office/drawing/2014/main" id="{A7387AA5-7FFB-AD1D-4B24-27779DD6E265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>
                  <a:solidFill>
                    <a:prstClr val="white"/>
                  </a:solidFill>
                  <a:latin typeface="Calibri  "/>
                </a:rPr>
                <a:t>CFIN Clássicas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>
                <a:solidFill>
                  <a:prstClr val="white"/>
                </a:solidFill>
                <a:latin typeface="Calibri  "/>
              </a:endParaRPr>
            </a:p>
          </p:txBody>
        </p: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821745FF-BB60-A47F-96AB-F684DB818F81}"/>
              </a:ext>
            </a:extLst>
          </p:cNvPr>
          <p:cNvGrpSpPr/>
          <p:nvPr/>
        </p:nvGrpSpPr>
        <p:grpSpPr>
          <a:xfrm>
            <a:off x="3399847" y="3228185"/>
            <a:ext cx="957658" cy="479782"/>
            <a:chOff x="4680625" y="3735594"/>
            <a:chExt cx="1893152" cy="811943"/>
          </a:xfrm>
          <a:solidFill>
            <a:srgbClr val="0A4B1E"/>
          </a:solidFill>
        </p:grpSpPr>
        <p:grpSp>
          <p:nvGrpSpPr>
            <p:cNvPr id="71" name="Agrupar 70">
              <a:extLst>
                <a:ext uri="{FF2B5EF4-FFF2-40B4-BE49-F238E27FC236}">
                  <a16:creationId xmlns:a16="http://schemas.microsoft.com/office/drawing/2014/main" id="{3EA5FD00-E252-6E80-EB01-72901F4B81B9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73" name="Retângulo: Cantos Arredondados 72">
                <a:extLst>
                  <a:ext uri="{FF2B5EF4-FFF2-40B4-BE49-F238E27FC236}">
                    <a16:creationId xmlns:a16="http://schemas.microsoft.com/office/drawing/2014/main" id="{3BEA43D7-CE63-B158-C434-AD047F9C1843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74" name="Retângulo 73">
                <a:extLst>
                  <a:ext uri="{FF2B5EF4-FFF2-40B4-BE49-F238E27FC236}">
                    <a16:creationId xmlns:a16="http://schemas.microsoft.com/office/drawing/2014/main" id="{B7D05A00-EF37-190B-D038-FC72A5589EB0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72" name="TextBox 16">
              <a:extLst>
                <a:ext uri="{FF2B5EF4-FFF2-40B4-BE49-F238E27FC236}">
                  <a16:creationId xmlns:a16="http://schemas.microsoft.com/office/drawing/2014/main" id="{57E7F2EA-94A7-F49B-B106-0909DD344CDE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CFIN Estratégias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56918E14-198B-F2E7-817B-906DFE46A69D}"/>
              </a:ext>
            </a:extLst>
          </p:cNvPr>
          <p:cNvCxnSpPr>
            <a:cxnSpLocks/>
          </p:cNvCxnSpPr>
          <p:nvPr/>
        </p:nvCxnSpPr>
        <p:spPr>
          <a:xfrm>
            <a:off x="1592115" y="2085217"/>
            <a:ext cx="0" cy="321194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F3651AC3-88A6-A7CE-AB4B-1DFA711A09A0}"/>
              </a:ext>
            </a:extLst>
          </p:cNvPr>
          <p:cNvCxnSpPr>
            <a:cxnSpLocks/>
          </p:cNvCxnSpPr>
          <p:nvPr/>
        </p:nvCxnSpPr>
        <p:spPr>
          <a:xfrm>
            <a:off x="1592115" y="2840372"/>
            <a:ext cx="0" cy="414939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C259DAB7-4772-257E-436C-5FFB60A401EB}"/>
              </a:ext>
            </a:extLst>
          </p:cNvPr>
          <p:cNvGrpSpPr/>
          <p:nvPr/>
        </p:nvGrpSpPr>
        <p:grpSpPr>
          <a:xfrm>
            <a:off x="603748" y="3866834"/>
            <a:ext cx="957658" cy="479782"/>
            <a:chOff x="4680625" y="3735594"/>
            <a:chExt cx="1893152" cy="811944"/>
          </a:xfrm>
          <a:solidFill>
            <a:srgbClr val="0A4B1E"/>
          </a:solidFill>
        </p:grpSpPr>
        <p:grpSp>
          <p:nvGrpSpPr>
            <p:cNvPr id="87" name="Agrupar 86">
              <a:extLst>
                <a:ext uri="{FF2B5EF4-FFF2-40B4-BE49-F238E27FC236}">
                  <a16:creationId xmlns:a16="http://schemas.microsoft.com/office/drawing/2014/main" id="{DF4D6C97-7200-3179-CA25-C0BBD7C0F5C7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89" name="Retângulo: Cantos Arredondados 88">
                <a:extLst>
                  <a:ext uri="{FF2B5EF4-FFF2-40B4-BE49-F238E27FC236}">
                    <a16:creationId xmlns:a16="http://schemas.microsoft.com/office/drawing/2014/main" id="{032F5356-BB7D-14EC-2458-F460AB25D70A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90" name="Retângulo 89">
                <a:extLst>
                  <a:ext uri="{FF2B5EF4-FFF2-40B4-BE49-F238E27FC236}">
                    <a16:creationId xmlns:a16="http://schemas.microsoft.com/office/drawing/2014/main" id="{568C7907-76CD-C17E-D450-8C8B39FA1BFB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88" name="TextBox 16">
              <a:extLst>
                <a:ext uri="{FF2B5EF4-FFF2-40B4-BE49-F238E27FC236}">
                  <a16:creationId xmlns:a16="http://schemas.microsoft.com/office/drawing/2014/main" id="{D641B8C1-1048-7741-71F3-4721E6D39AFA}"/>
                </a:ext>
              </a:extLst>
            </p:cNvPr>
            <p:cNvSpPr txBox="1"/>
            <p:nvPr/>
          </p:nvSpPr>
          <p:spPr>
            <a:xfrm>
              <a:off x="4680625" y="3782205"/>
              <a:ext cx="1893150" cy="765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Títulos Públicos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sp>
        <p:nvSpPr>
          <p:cNvPr id="22" name="Título 1">
            <a:extLst>
              <a:ext uri="{FF2B5EF4-FFF2-40B4-BE49-F238E27FC236}">
                <a16:creationId xmlns:a16="http://schemas.microsoft.com/office/drawing/2014/main" id="{3A4F4D67-D044-B70C-4D18-83A388AF328E}"/>
              </a:ext>
            </a:extLst>
          </p:cNvPr>
          <p:cNvSpPr txBox="1">
            <a:spLocks/>
          </p:cNvSpPr>
          <p:nvPr/>
        </p:nvSpPr>
        <p:spPr>
          <a:xfrm>
            <a:off x="334401" y="351624"/>
            <a:ext cx="8240684" cy="229020"/>
          </a:xfrm>
          <a:prstGeom prst="rect">
            <a:avLst/>
          </a:prstGeom>
          <a:noFill/>
        </p:spPr>
        <p:txBody>
          <a:bodyPr>
            <a:noAutofit/>
          </a:bodyPr>
          <a:lstStyle>
            <a:defPPr>
              <a:defRPr lang="pt-BR"/>
            </a:defPPr>
            <a:lvl1pPr marR="0" lvl="0" indent="0" defTabSz="914377" fontAlgn="auto">
              <a:lnSpc>
                <a:spcPts val="26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600" b="1" i="1" u="none" strike="noStrike" cap="none" spc="0" normalizeH="0" baseline="0">
                <a:ln>
                  <a:noFill/>
                </a:ln>
                <a:solidFill>
                  <a:srgbClr val="0A4B1E"/>
                </a:solidFill>
                <a:effectLst/>
                <a:uLnTx/>
                <a:uFillTx/>
                <a:latin typeface="Exo 2.0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pt-BR" sz="2400" dirty="0"/>
              <a:t>Contexto e Regulamentação</a:t>
            </a:r>
          </a:p>
        </p:txBody>
      </p: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8E379F24-483B-E6AE-DF15-7683D7646C81}"/>
              </a:ext>
            </a:extLst>
          </p:cNvPr>
          <p:cNvGrpSpPr/>
          <p:nvPr/>
        </p:nvGrpSpPr>
        <p:grpSpPr>
          <a:xfrm>
            <a:off x="603749" y="3426879"/>
            <a:ext cx="957658" cy="479782"/>
            <a:chOff x="4680625" y="3735594"/>
            <a:chExt cx="1893152" cy="811942"/>
          </a:xfrm>
          <a:solidFill>
            <a:srgbClr val="0A4B1E"/>
          </a:solidFill>
        </p:grpSpPr>
        <p:grpSp>
          <p:nvGrpSpPr>
            <p:cNvPr id="98" name="Agrupar 97">
              <a:extLst>
                <a:ext uri="{FF2B5EF4-FFF2-40B4-BE49-F238E27FC236}">
                  <a16:creationId xmlns:a16="http://schemas.microsoft.com/office/drawing/2014/main" id="{8D45FB94-89CA-8200-9DDB-77C7C201876A}"/>
                </a:ext>
              </a:extLst>
            </p:cNvPr>
            <p:cNvGrpSpPr/>
            <p:nvPr/>
          </p:nvGrpSpPr>
          <p:grpSpPr>
            <a:xfrm>
              <a:off x="4680625" y="3735594"/>
              <a:ext cx="1893152" cy="566312"/>
              <a:chOff x="4842958" y="4398640"/>
              <a:chExt cx="4616244" cy="99281"/>
            </a:xfrm>
            <a:grpFill/>
          </p:grpSpPr>
          <p:sp>
            <p:nvSpPr>
              <p:cNvPr id="100" name="Retângulo: Cantos Arredondados 99">
                <a:extLst>
                  <a:ext uri="{FF2B5EF4-FFF2-40B4-BE49-F238E27FC236}">
                    <a16:creationId xmlns:a16="http://schemas.microsoft.com/office/drawing/2014/main" id="{39DB23A5-011D-3440-C902-280E5AF36C4A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4616244" cy="99281"/>
              </a:xfrm>
              <a:prstGeom prst="round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b="1" spc="-75">
                  <a:solidFill>
                    <a:prstClr val="white"/>
                  </a:solidFill>
                  <a:latin typeface="Calibri  "/>
                </a:endParaRPr>
              </a:p>
            </p:txBody>
          </p:sp>
          <p:sp>
            <p:nvSpPr>
              <p:cNvPr id="101" name="Retângulo 100">
                <a:extLst>
                  <a:ext uri="{FF2B5EF4-FFF2-40B4-BE49-F238E27FC236}">
                    <a16:creationId xmlns:a16="http://schemas.microsoft.com/office/drawing/2014/main" id="{68B16DE5-92B4-3B66-ABE4-A055825F19D8}"/>
                  </a:ext>
                </a:extLst>
              </p:cNvPr>
              <p:cNvSpPr/>
              <p:nvPr/>
            </p:nvSpPr>
            <p:spPr>
              <a:xfrm>
                <a:off x="4842958" y="4398640"/>
                <a:ext cx="750381" cy="7898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350"/>
                  </a:lnSpc>
                  <a:defRPr/>
                </a:pPr>
                <a:endParaRPr lang="pt-BR" spc="-75">
                  <a:solidFill>
                    <a:prstClr val="white"/>
                  </a:solidFill>
                  <a:latin typeface="Calibri  "/>
                </a:endParaRPr>
              </a:p>
            </p:txBody>
          </p:sp>
        </p:grpSp>
        <p:sp>
          <p:nvSpPr>
            <p:cNvPr id="99" name="TextBox 16">
              <a:extLst>
                <a:ext uri="{FF2B5EF4-FFF2-40B4-BE49-F238E27FC236}">
                  <a16:creationId xmlns:a16="http://schemas.microsoft.com/office/drawing/2014/main" id="{ADE3DF0C-C8AA-4D76-0FDA-15231E2CC287}"/>
                </a:ext>
              </a:extLst>
            </p:cNvPr>
            <p:cNvSpPr txBox="1"/>
            <p:nvPr/>
          </p:nvSpPr>
          <p:spPr>
            <a:xfrm>
              <a:off x="4680625" y="3782204"/>
              <a:ext cx="1893150" cy="765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350"/>
                </a:lnSpc>
                <a:defRPr/>
              </a:pPr>
              <a:r>
                <a:rPr lang="pt-BR" sz="1100" spc="-75" dirty="0">
                  <a:solidFill>
                    <a:prstClr val="white"/>
                  </a:solidFill>
                  <a:latin typeface="Calibri  "/>
                </a:rPr>
                <a:t>FIRF Zeramento</a:t>
              </a:r>
            </a:p>
            <a:p>
              <a:pPr algn="ctr">
                <a:lnSpc>
                  <a:spcPts val="1350"/>
                </a:lnSpc>
                <a:defRPr/>
              </a:pPr>
              <a:endParaRPr lang="pt-BR" spc="-75" dirty="0">
                <a:solidFill>
                  <a:prstClr val="white"/>
                </a:solidFill>
                <a:latin typeface="Calibri  "/>
              </a:endParaRPr>
            </a:p>
          </p:txBody>
        </p:sp>
      </p:grpSp>
      <p:cxnSp>
        <p:nvCxnSpPr>
          <p:cNvPr id="102" name="Conector de Seta Reta 101">
            <a:extLst>
              <a:ext uri="{FF2B5EF4-FFF2-40B4-BE49-F238E27FC236}">
                <a16:creationId xmlns:a16="http://schemas.microsoft.com/office/drawing/2014/main" id="{6572BFDB-F36B-DEA5-5C03-C0DB76DC32EC}"/>
              </a:ext>
            </a:extLst>
          </p:cNvPr>
          <p:cNvCxnSpPr>
            <a:cxnSpLocks/>
          </p:cNvCxnSpPr>
          <p:nvPr/>
        </p:nvCxnSpPr>
        <p:spPr>
          <a:xfrm>
            <a:off x="2199081" y="1843328"/>
            <a:ext cx="1014143" cy="0"/>
          </a:xfrm>
          <a:prstGeom prst="straightConnector1">
            <a:avLst/>
          </a:prstGeom>
          <a:ln w="254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4B3A4714-4749-91D8-342C-DF1D2CBF5581}"/>
              </a:ext>
            </a:extLst>
          </p:cNvPr>
          <p:cNvSpPr txBox="1"/>
          <p:nvPr/>
        </p:nvSpPr>
        <p:spPr>
          <a:xfrm>
            <a:off x="495949" y="4346616"/>
            <a:ext cx="2127743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7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Exo 2 Light" panose="020B0604020202020204" charset="0"/>
              </a:rPr>
              <a:t>Aplicações realizadas via Cooperativa Central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77F3F002-3DB4-3299-8908-175B9E53F1E4}"/>
              </a:ext>
            </a:extLst>
          </p:cNvPr>
          <p:cNvSpPr txBox="1"/>
          <p:nvPr/>
        </p:nvSpPr>
        <p:spPr>
          <a:xfrm>
            <a:off x="3258791" y="1236565"/>
            <a:ext cx="124934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75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Exo 2 Light" panose="020B0604020202020204" charset="0"/>
              </a:rPr>
              <a:t>Aplicações diretas das Cooperativas Singulares</a:t>
            </a:r>
          </a:p>
        </p:txBody>
      </p:sp>
      <p:pic>
        <p:nvPicPr>
          <p:cNvPr id="110" name="Imagem 109" descr="Ícone&#10;&#10;Descrição gerada automaticamente">
            <a:extLst>
              <a:ext uri="{FF2B5EF4-FFF2-40B4-BE49-F238E27FC236}">
                <a16:creationId xmlns:a16="http://schemas.microsoft.com/office/drawing/2014/main" id="{18645817-4D12-91F4-D9C8-1DA5469FB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955" y="960601"/>
            <a:ext cx="465113" cy="465113"/>
          </a:xfrm>
          <a:prstGeom prst="rect">
            <a:avLst/>
          </a:prstGeom>
        </p:spPr>
      </p:pic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4D26B4ED-56AB-BE0E-0625-72399E4F3B2C}"/>
              </a:ext>
            </a:extLst>
          </p:cNvPr>
          <p:cNvSpPr txBox="1"/>
          <p:nvPr/>
        </p:nvSpPr>
        <p:spPr>
          <a:xfrm>
            <a:off x="5160442" y="863175"/>
            <a:ext cx="364949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Hoje é feita aplicação centralizada através das respectivas Cooperativas Centrais.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17B5AC36-427E-0790-353C-D47B088AED3F}"/>
              </a:ext>
            </a:extLst>
          </p:cNvPr>
          <p:cNvSpPr txBox="1"/>
          <p:nvPr/>
        </p:nvSpPr>
        <p:spPr>
          <a:xfrm>
            <a:off x="5183242" y="1821701"/>
            <a:ext cx="36494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Normativo sistêmico “Centralização Financeira” e seus anexos dispõem sobre regras, responsabilidades e apurações.</a:t>
            </a:r>
          </a:p>
        </p:txBody>
      </p:sp>
      <p:pic>
        <p:nvPicPr>
          <p:cNvPr id="121" name="Imagem 120" descr="Ícone&#10;&#10;Descrição gerada automaticamente">
            <a:extLst>
              <a:ext uri="{FF2B5EF4-FFF2-40B4-BE49-F238E27FC236}">
                <a16:creationId xmlns:a16="http://schemas.microsoft.com/office/drawing/2014/main" id="{4391B926-4806-D034-2691-B4C17A108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783" y="2084565"/>
            <a:ext cx="441528" cy="441528"/>
          </a:xfrm>
          <a:prstGeom prst="rect">
            <a:avLst/>
          </a:prstGeom>
        </p:spPr>
      </p:pic>
      <p:pic>
        <p:nvPicPr>
          <p:cNvPr id="122" name="Imagem 121" descr="Ícone&#10;&#10;Descrição gerada automaticamente">
            <a:extLst>
              <a:ext uri="{FF2B5EF4-FFF2-40B4-BE49-F238E27FC236}">
                <a16:creationId xmlns:a16="http://schemas.microsoft.com/office/drawing/2014/main" id="{3DB4A535-2B79-8A9A-C392-D033AD1A5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783" y="3103422"/>
            <a:ext cx="474404" cy="465113"/>
          </a:xfrm>
          <a:prstGeom prst="rect">
            <a:avLst/>
          </a:prstGeom>
        </p:spPr>
      </p:pic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962B6BFC-390B-3F16-5682-89A55AA33F56}"/>
              </a:ext>
            </a:extLst>
          </p:cNvPr>
          <p:cNvSpPr txBox="1"/>
          <p:nvPr/>
        </p:nvSpPr>
        <p:spPr>
          <a:xfrm>
            <a:off x="5192670" y="3094785"/>
            <a:ext cx="364949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Cerca de R$ 1,6bi alocados em 4 centrais, referentes a 88 singulares.</a:t>
            </a:r>
          </a:p>
        </p:txBody>
      </p:sp>
      <p:pic>
        <p:nvPicPr>
          <p:cNvPr id="125" name="Imagem 124" descr="Ícone&#10;&#10;Descrição gerada automaticamente">
            <a:extLst>
              <a:ext uri="{FF2B5EF4-FFF2-40B4-BE49-F238E27FC236}">
                <a16:creationId xmlns:a16="http://schemas.microsoft.com/office/drawing/2014/main" id="{609D7F1D-1DC4-BC1F-37C2-DF39B8F7E6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8943" y="3993752"/>
            <a:ext cx="510189" cy="510189"/>
          </a:xfrm>
          <a:prstGeom prst="rect">
            <a:avLst/>
          </a:prstGeom>
        </p:spPr>
      </p:pic>
      <p:sp>
        <p:nvSpPr>
          <p:cNvPr id="126" name="CaixaDeTexto 125">
            <a:extLst>
              <a:ext uri="{FF2B5EF4-FFF2-40B4-BE49-F238E27FC236}">
                <a16:creationId xmlns:a16="http://schemas.microsoft.com/office/drawing/2014/main" id="{4B1687DE-8C71-1DAD-775D-3EC396593EBF}"/>
              </a:ext>
            </a:extLst>
          </p:cNvPr>
          <p:cNvSpPr txBox="1"/>
          <p:nvPr/>
        </p:nvSpPr>
        <p:spPr>
          <a:xfrm>
            <a:off x="5214735" y="4036636"/>
            <a:ext cx="364949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Alocação via Central tem FPR de 20% e demanda capital das singulares. Aproximadamente R$ 30 mi.</a:t>
            </a:r>
          </a:p>
        </p:txBody>
      </p:sp>
    </p:spTree>
    <p:extLst>
      <p:ext uri="{BB962C8B-B14F-4D97-AF65-F5344CB8AC3E}">
        <p14:creationId xmlns:p14="http://schemas.microsoft.com/office/powerpoint/2010/main" val="1552206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075" y="266319"/>
            <a:ext cx="381000" cy="381000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409575" y="384552"/>
            <a:ext cx="77658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Sicredi Asset e a posição no mercado</a:t>
            </a:r>
            <a:endParaRPr lang="en-US" sz="2200" b="1" i="1" dirty="0">
              <a:solidFill>
                <a:srgbClr val="0A4B1E"/>
              </a:solidFill>
              <a:latin typeface="Exo 2.0" panose="00000500000000000000" pitchFamily="50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596F30-43D0-4C2E-AE8C-F0E400C7031F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432804-2053-47EC-BCAD-AB101919005E}"/>
              </a:ext>
            </a:extLst>
          </p:cNvPr>
          <p:cNvSpPr/>
          <p:nvPr/>
        </p:nvSpPr>
        <p:spPr>
          <a:xfrm>
            <a:off x="681279" y="1301083"/>
            <a:ext cx="3489789" cy="1294593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FFFFFF"/>
              </a:solidFill>
              <a:latin typeface="Nunito Light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253859-39F1-4149-8909-8E7E4EBA9222}"/>
              </a:ext>
            </a:extLst>
          </p:cNvPr>
          <p:cNvSpPr/>
          <p:nvPr/>
        </p:nvSpPr>
        <p:spPr>
          <a:xfrm>
            <a:off x="2020812" y="968883"/>
            <a:ext cx="79396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800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473261F-F96C-40BD-AFF2-14513A9D5D99}"/>
              </a:ext>
            </a:extLst>
          </p:cNvPr>
          <p:cNvSpPr/>
          <p:nvPr/>
        </p:nvSpPr>
        <p:spPr>
          <a:xfrm>
            <a:off x="659662" y="3019276"/>
            <a:ext cx="3489789" cy="1294593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FFFFFF"/>
              </a:solidFill>
              <a:latin typeface="Nunito Light" pitchFamily="2" charset="0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449A6C1-738F-45BF-8B8C-08D4D6B42844}"/>
              </a:ext>
            </a:extLst>
          </p:cNvPr>
          <p:cNvSpPr/>
          <p:nvPr/>
        </p:nvSpPr>
        <p:spPr>
          <a:xfrm>
            <a:off x="1963180" y="2949060"/>
            <a:ext cx="793967" cy="15799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FFFFFF"/>
              </a:solidFill>
              <a:latin typeface="Nunito Light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37DC24C-7097-44CC-A7F5-C612DE4EFA8C}"/>
              </a:ext>
            </a:extLst>
          </p:cNvPr>
          <p:cNvSpPr txBox="1"/>
          <p:nvPr/>
        </p:nvSpPr>
        <p:spPr>
          <a:xfrm>
            <a:off x="690403" y="1420703"/>
            <a:ext cx="13607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4000" dirty="0">
                <a:solidFill>
                  <a:srgbClr val="64C832"/>
                </a:solidFill>
                <a:latin typeface="Exo 2.0" panose="00000500000000000000" pitchFamily="50" charset="0"/>
              </a:rPr>
              <a:t>+135</a:t>
            </a:r>
          </a:p>
          <a:p>
            <a:pPr algn="ctr">
              <a:defRPr/>
            </a:pPr>
            <a:r>
              <a:rPr lang="pt-BR" sz="1200" dirty="0">
                <a:solidFill>
                  <a:srgbClr val="64C832"/>
                </a:solidFill>
                <a:latin typeface="Exo 2.0" panose="00000500000000000000" pitchFamily="50" charset="0"/>
              </a:rPr>
              <a:t>bilhões sob gestão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37100C6-8358-46BB-BE0F-0F96809FEED0}"/>
              </a:ext>
            </a:extLst>
          </p:cNvPr>
          <p:cNvSpPr txBox="1"/>
          <p:nvPr/>
        </p:nvSpPr>
        <p:spPr>
          <a:xfrm>
            <a:off x="2404556" y="1426526"/>
            <a:ext cx="17141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4000" dirty="0">
                <a:solidFill>
                  <a:srgbClr val="64C832"/>
                </a:solidFill>
                <a:latin typeface="Exo 2.0" panose="00000500000000000000" pitchFamily="50" charset="0"/>
              </a:rPr>
              <a:t>+150</a:t>
            </a:r>
          </a:p>
          <a:p>
            <a:pPr algn="ctr">
              <a:defRPr/>
            </a:pPr>
            <a:r>
              <a:rPr lang="pt-BR" sz="1200" dirty="0">
                <a:solidFill>
                  <a:srgbClr val="64C832"/>
                </a:solidFill>
                <a:latin typeface="Exo 2.0" panose="00000500000000000000" pitchFamily="50" charset="0"/>
              </a:rPr>
              <a:t>fundos e carteiras geridos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4022DE6-3197-435B-B6C4-3CD237510044}"/>
              </a:ext>
            </a:extLst>
          </p:cNvPr>
          <p:cNvSpPr txBox="1"/>
          <p:nvPr/>
        </p:nvSpPr>
        <p:spPr>
          <a:xfrm>
            <a:off x="681279" y="3138396"/>
            <a:ext cx="1444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4000" dirty="0">
                <a:solidFill>
                  <a:srgbClr val="64C832"/>
                </a:solidFill>
                <a:latin typeface="Exo 2.0" panose="00000500000000000000" pitchFamily="50" charset="0"/>
              </a:rPr>
              <a:t>7ª</a:t>
            </a:r>
          </a:p>
          <a:p>
            <a:pPr algn="ctr">
              <a:defRPr/>
            </a:pPr>
            <a:r>
              <a:rPr lang="pt-BR" sz="1200" dirty="0">
                <a:solidFill>
                  <a:srgbClr val="64C832"/>
                </a:solidFill>
                <a:latin typeface="Exo 2.0" panose="00000500000000000000" pitchFamily="50" charset="0"/>
              </a:rPr>
              <a:t>maior gestora de RENDA FIXA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18F53AF-86DA-43BE-8315-D0BCE87446AB}"/>
              </a:ext>
            </a:extLst>
          </p:cNvPr>
          <p:cNvSpPr txBox="1"/>
          <p:nvPr/>
        </p:nvSpPr>
        <p:spPr>
          <a:xfrm>
            <a:off x="2677131" y="3127963"/>
            <a:ext cx="14443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pt-BR" sz="4000" dirty="0">
                <a:solidFill>
                  <a:srgbClr val="64C832"/>
                </a:solidFill>
                <a:latin typeface="Exo 2.0" panose="00000500000000000000" pitchFamily="50" charset="0"/>
              </a:rPr>
              <a:t>12ª</a:t>
            </a:r>
          </a:p>
          <a:p>
            <a:pPr algn="ctr">
              <a:defRPr/>
            </a:pPr>
            <a:r>
              <a:rPr lang="pt-BR" sz="1200" dirty="0">
                <a:solidFill>
                  <a:srgbClr val="64C832"/>
                </a:solidFill>
                <a:latin typeface="Exo 2.0" panose="00000500000000000000" pitchFamily="50" charset="0"/>
              </a:rPr>
              <a:t>maior gestora do Brasil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0D14A0C8-22AD-4B6F-85D3-4BF6843C4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306" y="894263"/>
            <a:ext cx="898503" cy="900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8F7F340D-28C5-485B-816A-41691AEC2AEF}"/>
              </a:ext>
            </a:extLst>
          </p:cNvPr>
          <p:cNvSpPr/>
          <p:nvPr/>
        </p:nvSpPr>
        <p:spPr>
          <a:xfrm>
            <a:off x="4803132" y="1045891"/>
            <a:ext cx="3921501" cy="3473912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800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1A633DF-F237-4076-BF31-AAD759C3EA4D}"/>
              </a:ext>
            </a:extLst>
          </p:cNvPr>
          <p:cNvSpPr txBox="1"/>
          <p:nvPr/>
        </p:nvSpPr>
        <p:spPr>
          <a:xfrm>
            <a:off x="5717697" y="1475647"/>
            <a:ext cx="2093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i="1" dirty="0">
                <a:solidFill>
                  <a:srgbClr val="FFFFFF"/>
                </a:solidFill>
                <a:latin typeface="Exo 2.0" panose="00000500000000000000" pitchFamily="50" charset="0"/>
              </a:rPr>
              <a:t>FORTE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DB8EEE5F-9AF9-4069-BE53-E769E98B435C}"/>
              </a:ext>
            </a:extLst>
          </p:cNvPr>
          <p:cNvSpPr txBox="1"/>
          <p:nvPr/>
        </p:nvSpPr>
        <p:spPr>
          <a:xfrm>
            <a:off x="4717475" y="1794264"/>
            <a:ext cx="40108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i="1">
                <a:solidFill>
                  <a:schemeClr val="tx1">
                    <a:lumMod val="50000"/>
                  </a:schemeClr>
                </a:solidFill>
                <a:latin typeface="Exo 2.0 Light" panose="00000400000000000000" pitchFamily="50" charset="0"/>
              </a:defRPr>
            </a:lvl1pPr>
          </a:lstStyle>
          <a:p>
            <a:pPr defTabSz="914400">
              <a:defRPr/>
            </a:pPr>
            <a:r>
              <a:rPr lang="pt-BR" b="1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        O rating se baseia nas seguintes avaliações</a:t>
            </a:r>
            <a:r>
              <a:rPr lang="pt-BR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:</a:t>
            </a:r>
          </a:p>
          <a:p>
            <a:pPr defTabSz="914400">
              <a:defRPr/>
            </a:pPr>
            <a:endParaRPr lang="pt-BR" i="0" kern="0" dirty="0">
              <a:solidFill>
                <a:srgbClr val="596459">
                  <a:lumMod val="50000"/>
                </a:srgbClr>
              </a:solidFill>
              <a:latin typeface="Exo 2.0" panose="00000500000000000000" pitchFamily="50" charset="0"/>
            </a:endParaRP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Processo de Investimento: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Excelente</a:t>
            </a:r>
          </a:p>
          <a:p>
            <a:pPr defTabSz="914400">
              <a:defRPr/>
            </a:pPr>
            <a:r>
              <a:rPr lang="pt-BR" sz="1050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	</a:t>
            </a: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Recursos de Investimento: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Forte</a:t>
            </a:r>
          </a:p>
          <a:p>
            <a:pPr defTabSz="914400">
              <a:defRPr/>
            </a:pPr>
            <a:endParaRPr lang="pt-BR" sz="1050" i="0" kern="0" dirty="0">
              <a:solidFill>
                <a:srgbClr val="596459">
                  <a:lumMod val="50000"/>
                </a:srgbClr>
              </a:solidFill>
              <a:latin typeface="Exo 2.0" panose="00000500000000000000" pitchFamily="50" charset="0"/>
            </a:endParaRP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Gestão de Riscos: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Excelente</a:t>
            </a:r>
          </a:p>
          <a:p>
            <a:pPr defTabSz="914400">
              <a:defRPr/>
            </a:pPr>
            <a:r>
              <a:rPr lang="pt-BR" sz="1050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	</a:t>
            </a: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Desempenho dos Investimentos: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Consistente</a:t>
            </a:r>
          </a:p>
          <a:p>
            <a:pPr defTabSz="914400">
              <a:defRPr/>
            </a:pPr>
            <a:r>
              <a:rPr lang="pt-BR" sz="1050" i="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	</a:t>
            </a:r>
          </a:p>
          <a:p>
            <a:pPr lvl="1" defTabSz="914400"/>
            <a:r>
              <a:rPr lang="pt-BR" sz="1200" kern="0" dirty="0">
                <a:solidFill>
                  <a:srgbClr val="596459">
                    <a:lumMod val="50000"/>
                  </a:srgbClr>
                </a:solidFill>
                <a:latin typeface="Exo 2.0" panose="00000500000000000000" pitchFamily="50" charset="0"/>
              </a:rPr>
              <a:t>Companhia &amp; Atendimento a Clientes: </a:t>
            </a:r>
            <a:r>
              <a:rPr lang="pt-BR" sz="1200" b="1" kern="0" dirty="0">
                <a:solidFill>
                  <a:srgbClr val="64C832"/>
                </a:solidFill>
                <a:latin typeface="Exo 2.0" panose="00000500000000000000" pitchFamily="50" charset="0"/>
              </a:rPr>
              <a:t>Forte</a:t>
            </a:r>
          </a:p>
        </p:txBody>
      </p:sp>
      <p:sp>
        <p:nvSpPr>
          <p:cNvPr id="32" name="Espaço Reservado para Texto 1">
            <a:extLst>
              <a:ext uri="{FF2B5EF4-FFF2-40B4-BE49-F238E27FC236}">
                <a16:creationId xmlns:a16="http://schemas.microsoft.com/office/drawing/2014/main" id="{7ADE1F9F-C694-44C1-B817-5C9B3ED7AECD}"/>
              </a:ext>
            </a:extLst>
          </p:cNvPr>
          <p:cNvSpPr txBox="1">
            <a:spLocks/>
          </p:cNvSpPr>
          <p:nvPr/>
        </p:nvSpPr>
        <p:spPr>
          <a:xfrm>
            <a:off x="5849725" y="735290"/>
            <a:ext cx="1828312" cy="707143"/>
          </a:xfrm>
          <a:prstGeom prst="roundRect">
            <a:avLst/>
          </a:prstGeom>
          <a:solidFill>
            <a:srgbClr val="64C832"/>
          </a:solidFill>
        </p:spPr>
        <p:txBody>
          <a:bodyPr vert="horz" lIns="108000" tIns="45720" rIns="91440" bIns="45720" rtlCol="0" anchor="b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sz="1600" dirty="0">
                <a:solidFill>
                  <a:srgbClr val="FFFFFF"/>
                </a:solidFill>
                <a:latin typeface="Exo 2.0" panose="00000500000000000000" pitchFamily="50" charset="0"/>
              </a:rPr>
              <a:t>Fitch Ratings</a:t>
            </a:r>
            <a:endParaRPr lang="pt-BR" sz="1200" dirty="0">
              <a:solidFill>
                <a:srgbClr val="FFFFFF"/>
              </a:solidFill>
              <a:latin typeface="Exo 2.0" panose="00000500000000000000" pitchFamily="50" charset="0"/>
            </a:endParaRPr>
          </a:p>
          <a:p>
            <a:pPr algn="ctr">
              <a:defRPr/>
            </a:pPr>
            <a:r>
              <a:rPr lang="pt-BR" sz="1600" dirty="0">
                <a:solidFill>
                  <a:srgbClr val="FFFFFF"/>
                </a:solidFill>
                <a:latin typeface="Exo 2.0" panose="00000500000000000000" pitchFamily="50" charset="0"/>
              </a:rPr>
              <a:t>FORTE</a:t>
            </a:r>
          </a:p>
        </p:txBody>
      </p:sp>
      <p:pic>
        <p:nvPicPr>
          <p:cNvPr id="1026" name="Picture 2" descr="ANBIMA">
            <a:extLst>
              <a:ext uri="{FF2B5EF4-FFF2-40B4-BE49-F238E27FC236}">
                <a16:creationId xmlns:a16="http://schemas.microsoft.com/office/drawing/2014/main" id="{D3DEAAEE-E2CC-A54F-E7B5-F07CFCC14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63" y="2789661"/>
            <a:ext cx="9377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 descr="Forma&#10;&#10;O conteúdo gerado por IA pode estar incorreto.">
            <a:extLst>
              <a:ext uri="{FF2B5EF4-FFF2-40B4-BE49-F238E27FC236}">
                <a16:creationId xmlns:a16="http://schemas.microsoft.com/office/drawing/2014/main" id="{C51F919B-AD77-7275-C398-5D16A475AB6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3871BF0D-5EB5-BC2F-A27D-BA8213F6F4C8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A4DD80A3-DFD7-CC38-D7FD-E26500C7EC55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28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8125" y="214314"/>
            <a:ext cx="381000" cy="381000"/>
          </a:xfrm>
          <a:prstGeom prst="rect">
            <a:avLst/>
          </a:prstGeom>
        </p:spPr>
      </p:pic>
      <p:sp>
        <p:nvSpPr>
          <p:cNvPr id="8" name="Object3">
            <a:extLst>
              <a:ext uri="{FF2B5EF4-FFF2-40B4-BE49-F238E27FC236}">
                <a16:creationId xmlns:a16="http://schemas.microsoft.com/office/drawing/2014/main" id="{DEFB7468-5005-A268-7C95-7F9C72FBF416}"/>
              </a:ext>
            </a:extLst>
          </p:cNvPr>
          <p:cNvSpPr/>
          <p:nvPr/>
        </p:nvSpPr>
        <p:spPr>
          <a:xfrm>
            <a:off x="428626" y="321439"/>
            <a:ext cx="379224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89"/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  <a:ea typeface="Exo 2 ExtraLight Italic" pitchFamily="34" charset="-122"/>
              </a:rPr>
              <a:t>Premiações</a:t>
            </a:r>
          </a:p>
          <a:p>
            <a:pPr defTabSz="457189"/>
            <a:endParaRPr lang="pt-BR" sz="2200" dirty="0">
              <a:solidFill>
                <a:srgbClr val="E7E6E6">
                  <a:lumMod val="25000"/>
                </a:srgbClr>
              </a:solidFill>
              <a:latin typeface="Exo 2 Bold Italic" panose="020B0604020202020204" charset="0"/>
              <a:ea typeface="Exo 2 ExtraLight Italic" pitchFamily="34" charset="-122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548C257-268B-FE26-FA8B-216E5298EC91}"/>
              </a:ext>
            </a:extLst>
          </p:cNvPr>
          <p:cNvSpPr txBox="1"/>
          <p:nvPr/>
        </p:nvSpPr>
        <p:spPr>
          <a:xfrm>
            <a:off x="3513558" y="2293411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783"/>
            <a:endParaRPr lang="pt-BR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9F3FF536-2D7A-C740-21BC-1F1F80DCB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230" y="1220132"/>
            <a:ext cx="1342035" cy="1512244"/>
          </a:xfrm>
          <a:prstGeom prst="rect">
            <a:avLst/>
          </a:prstGeom>
        </p:spPr>
      </p:pic>
      <p:pic>
        <p:nvPicPr>
          <p:cNvPr id="50" name="Imagem 49">
            <a:extLst>
              <a:ext uri="{FF2B5EF4-FFF2-40B4-BE49-F238E27FC236}">
                <a16:creationId xmlns:a16="http://schemas.microsoft.com/office/drawing/2014/main" id="{B07C5158-90D1-E46B-3A1D-A90452D0C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1702" y="1232636"/>
            <a:ext cx="1335489" cy="1518790"/>
          </a:xfrm>
          <a:prstGeom prst="rect">
            <a:avLst/>
          </a:prstGeom>
        </p:spPr>
      </p:pic>
      <p:pic>
        <p:nvPicPr>
          <p:cNvPr id="52" name="Imagem 51">
            <a:extLst>
              <a:ext uri="{FF2B5EF4-FFF2-40B4-BE49-F238E27FC236}">
                <a16:creationId xmlns:a16="http://schemas.microsoft.com/office/drawing/2014/main" id="{A8CDC3BA-FB67-7A86-F71D-3EFD7D7F36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7168" y="1272504"/>
            <a:ext cx="1335489" cy="1459872"/>
          </a:xfrm>
          <a:prstGeom prst="rect">
            <a:avLst/>
          </a:prstGeom>
        </p:spPr>
      </p:pic>
      <p:pic>
        <p:nvPicPr>
          <p:cNvPr id="54" name="Imagem 53">
            <a:extLst>
              <a:ext uri="{FF2B5EF4-FFF2-40B4-BE49-F238E27FC236}">
                <a16:creationId xmlns:a16="http://schemas.microsoft.com/office/drawing/2014/main" id="{5A465CDC-FE72-1C56-D744-D6FE8000D9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9732" y="1252863"/>
            <a:ext cx="1315849" cy="1479513"/>
          </a:xfrm>
          <a:prstGeom prst="rect">
            <a:avLst/>
          </a:prstGeom>
        </p:spPr>
      </p:pic>
      <p:pic>
        <p:nvPicPr>
          <p:cNvPr id="56" name="Imagem 55">
            <a:extLst>
              <a:ext uri="{FF2B5EF4-FFF2-40B4-BE49-F238E27FC236}">
                <a16:creationId xmlns:a16="http://schemas.microsoft.com/office/drawing/2014/main" id="{21CCD1F4-04A8-7D31-EA74-D60FFF8103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4326" y="2915360"/>
            <a:ext cx="1322395" cy="1499151"/>
          </a:xfrm>
          <a:prstGeom prst="rect">
            <a:avLst/>
          </a:prstGeom>
        </p:spPr>
      </p:pic>
      <p:pic>
        <p:nvPicPr>
          <p:cNvPr id="58" name="Imagem 57">
            <a:extLst>
              <a:ext uri="{FF2B5EF4-FFF2-40B4-BE49-F238E27FC236}">
                <a16:creationId xmlns:a16="http://schemas.microsoft.com/office/drawing/2014/main" id="{19A9CB18-F9D2-6767-2059-E2F3980C34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4837" y="2939023"/>
            <a:ext cx="1342035" cy="1479513"/>
          </a:xfrm>
          <a:prstGeom prst="rect">
            <a:avLst/>
          </a:prstGeom>
        </p:spPr>
      </p:pic>
      <p:pic>
        <p:nvPicPr>
          <p:cNvPr id="60" name="Imagem 59">
            <a:extLst>
              <a:ext uri="{FF2B5EF4-FFF2-40B4-BE49-F238E27FC236}">
                <a16:creationId xmlns:a16="http://schemas.microsoft.com/office/drawing/2014/main" id="{C231B04F-7609-93E3-7EAC-17AA5D9B6FE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1850" y="2935000"/>
            <a:ext cx="1335489" cy="1479511"/>
          </a:xfrm>
          <a:prstGeom prst="rect">
            <a:avLst/>
          </a:prstGeom>
        </p:spPr>
      </p:pic>
      <p:pic>
        <p:nvPicPr>
          <p:cNvPr id="62" name="Imagem 61">
            <a:extLst>
              <a:ext uri="{FF2B5EF4-FFF2-40B4-BE49-F238E27FC236}">
                <a16:creationId xmlns:a16="http://schemas.microsoft.com/office/drawing/2014/main" id="{13B733AD-C8B6-7515-67A1-5739199CAF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00829" y="2950974"/>
            <a:ext cx="1322395" cy="1459872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7E06343E-A613-EC98-5F3D-234F6285EE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32470" y="2926140"/>
            <a:ext cx="1361674" cy="1492605"/>
          </a:xfrm>
          <a:prstGeom prst="rect">
            <a:avLst/>
          </a:prstGeom>
        </p:spPr>
      </p:pic>
      <p:sp>
        <p:nvSpPr>
          <p:cNvPr id="69" name="Object3">
            <a:extLst>
              <a:ext uri="{FF2B5EF4-FFF2-40B4-BE49-F238E27FC236}">
                <a16:creationId xmlns:a16="http://schemas.microsoft.com/office/drawing/2014/main" id="{BC0D6542-D4DB-B10A-128E-3351B502F580}"/>
              </a:ext>
            </a:extLst>
          </p:cNvPr>
          <p:cNvSpPr/>
          <p:nvPr/>
        </p:nvSpPr>
        <p:spPr>
          <a:xfrm>
            <a:off x="2080881" y="790191"/>
            <a:ext cx="5263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defTabSz="457189">
              <a:lnSpc>
                <a:spcPct val="150000"/>
              </a:lnSpc>
            </a:pPr>
            <a:r>
              <a:rPr lang="pt-BR" sz="1401" b="1" dirty="0">
                <a:solidFill>
                  <a:srgbClr val="E7E6E6">
                    <a:lumMod val="25000"/>
                  </a:srgbClr>
                </a:solidFill>
                <a:latin typeface="Exo 2 Light Italic" pitchFamily="2" charset="0"/>
                <a:ea typeface="Exo 2 ExtraLight Italic" pitchFamily="34" charset="-122"/>
              </a:rPr>
              <a:t>Investidores Institucionais e Ranking FGV</a:t>
            </a:r>
          </a:p>
          <a:p>
            <a:pPr defTabSz="457189"/>
            <a:endParaRPr lang="pt-BR" sz="1401" dirty="0">
              <a:solidFill>
                <a:srgbClr val="E7E6E6">
                  <a:lumMod val="25000"/>
                </a:srgbClr>
              </a:solidFill>
              <a:latin typeface="Exo 2 Light Italic" pitchFamily="2" charset="0"/>
              <a:ea typeface="Exo 2 ExtraLight Italic" pitchFamily="34" charset="-122"/>
            </a:endParaRP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5D2FE98B-E4B1-CFE2-3531-241575E3DFCE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8A0A1130-6328-CD37-2DF3-A664771B9786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1CD673A-B519-0FE7-EF4A-FC4DD888BE79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9C9BE311-8845-5390-84EE-B6F6763E8130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5795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3">
            <a:extLst>
              <a:ext uri="{FF2B5EF4-FFF2-40B4-BE49-F238E27FC236}">
                <a16:creationId xmlns:a16="http://schemas.microsoft.com/office/drawing/2014/main" id="{C000E062-46C5-6301-713F-AEFDBAAFD9D1}"/>
              </a:ext>
            </a:extLst>
          </p:cNvPr>
          <p:cNvSpPr/>
          <p:nvPr/>
        </p:nvSpPr>
        <p:spPr>
          <a:xfrm>
            <a:off x="428626" y="291053"/>
            <a:ext cx="2854819" cy="361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</a:rPr>
              <a:t>Nosso organograma</a:t>
            </a:r>
          </a:p>
        </p:txBody>
      </p: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FF2F712A-F09D-5A4A-5D13-5ECEF80AC87E}"/>
              </a:ext>
            </a:extLst>
          </p:cNvPr>
          <p:cNvGrpSpPr/>
          <p:nvPr/>
        </p:nvGrpSpPr>
        <p:grpSpPr>
          <a:xfrm>
            <a:off x="117705" y="797306"/>
            <a:ext cx="8862315" cy="3548889"/>
            <a:chOff x="64714" y="910714"/>
            <a:chExt cx="8862315" cy="3548889"/>
          </a:xfrm>
        </p:grpSpPr>
        <p:sp>
          <p:nvSpPr>
            <p:cNvPr id="83" name="Retângulo: Cantos Arredondados 82">
              <a:extLst>
                <a:ext uri="{FF2B5EF4-FFF2-40B4-BE49-F238E27FC236}">
                  <a16:creationId xmlns:a16="http://schemas.microsoft.com/office/drawing/2014/main" id="{913491DF-8B00-782A-DF49-DB6E73286A9D}"/>
                </a:ext>
              </a:extLst>
            </p:cNvPr>
            <p:cNvSpPr/>
            <p:nvPr/>
          </p:nvSpPr>
          <p:spPr>
            <a:xfrm>
              <a:off x="1852829" y="1754435"/>
              <a:ext cx="1036771" cy="627002"/>
            </a:xfrm>
            <a:prstGeom prst="roundRect">
              <a:avLst/>
            </a:prstGeom>
            <a:solidFill>
              <a:srgbClr val="146E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spc="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Portfólio </a:t>
              </a:r>
            </a:p>
            <a:p>
              <a:pPr algn="ctr"/>
              <a:r>
                <a:rPr lang="pt-BR" sz="800" b="1" spc="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Manager</a:t>
              </a:r>
            </a:p>
            <a:p>
              <a:pPr algn="ctr"/>
              <a:endParaRPr lang="pt-BR" sz="6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800" dirty="0">
                  <a:latin typeface="Aptos Display" panose="020B0004020202020204" pitchFamily="34" charset="0"/>
                </a:rPr>
                <a:t>Luiz Furlani</a:t>
              </a:r>
            </a:p>
          </p:txBody>
        </p:sp>
        <p:sp>
          <p:nvSpPr>
            <p:cNvPr id="84" name="Retângulo: Cantos Arredondados 83">
              <a:extLst>
                <a:ext uri="{FF2B5EF4-FFF2-40B4-BE49-F238E27FC236}">
                  <a16:creationId xmlns:a16="http://schemas.microsoft.com/office/drawing/2014/main" id="{233E7AF0-F70D-CD8D-E179-073EE77F78D7}"/>
                </a:ext>
              </a:extLst>
            </p:cNvPr>
            <p:cNvSpPr/>
            <p:nvPr/>
          </p:nvSpPr>
          <p:spPr>
            <a:xfrm>
              <a:off x="275388" y="2560058"/>
              <a:ext cx="958731" cy="423714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50" b="1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Caixa e TPF</a:t>
              </a:r>
              <a:endParaRPr lang="pt-BR" sz="5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Bruno Martins</a:t>
              </a:r>
            </a:p>
          </p:txBody>
        </p:sp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FB613A2E-8C25-BD64-D319-98193DA97255}"/>
                </a:ext>
              </a:extLst>
            </p:cNvPr>
            <p:cNvSpPr/>
            <p:nvPr/>
          </p:nvSpPr>
          <p:spPr>
            <a:xfrm>
              <a:off x="1386332" y="2567836"/>
              <a:ext cx="958731" cy="423714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50" b="1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Crédito Privado</a:t>
              </a:r>
              <a:endParaRPr lang="pt-BR" sz="5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José Geraldo</a:t>
              </a:r>
            </a:p>
          </p:txBody>
        </p:sp>
        <p:sp>
          <p:nvSpPr>
            <p:cNvPr id="86" name="Retângulo: Cantos Arredondados 85">
              <a:extLst>
                <a:ext uri="{FF2B5EF4-FFF2-40B4-BE49-F238E27FC236}">
                  <a16:creationId xmlns:a16="http://schemas.microsoft.com/office/drawing/2014/main" id="{AFD133EA-A663-F55B-18B0-436AE9F399B5}"/>
                </a:ext>
              </a:extLst>
            </p:cNvPr>
            <p:cNvSpPr/>
            <p:nvPr/>
          </p:nvSpPr>
          <p:spPr>
            <a:xfrm>
              <a:off x="2437648" y="2567836"/>
              <a:ext cx="958731" cy="423714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50" b="1" dirty="0" err="1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Equity</a:t>
              </a:r>
              <a:r>
                <a:rPr lang="pt-BR" sz="850" b="1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 e ESG</a:t>
              </a:r>
              <a:endParaRPr lang="pt-BR" sz="5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César Nappi</a:t>
              </a:r>
            </a:p>
          </p:txBody>
        </p:sp>
        <p:sp>
          <p:nvSpPr>
            <p:cNvPr id="87" name="Retângulo: Cantos Arredondados 86">
              <a:extLst>
                <a:ext uri="{FF2B5EF4-FFF2-40B4-BE49-F238E27FC236}">
                  <a16:creationId xmlns:a16="http://schemas.microsoft.com/office/drawing/2014/main" id="{ECFA48C7-B63A-0BE3-2F07-87655121DFA3}"/>
                </a:ext>
              </a:extLst>
            </p:cNvPr>
            <p:cNvSpPr/>
            <p:nvPr/>
          </p:nvSpPr>
          <p:spPr>
            <a:xfrm>
              <a:off x="3521406" y="2567836"/>
              <a:ext cx="958731" cy="423714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50" b="1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Risco de Mercado</a:t>
              </a:r>
              <a:endParaRPr lang="pt-BR" sz="5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Andre Trierveiler</a:t>
              </a:r>
            </a:p>
          </p:txBody>
        </p:sp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id="{DC069455-40F5-550A-3FB1-362952EE3769}"/>
                </a:ext>
              </a:extLst>
            </p:cNvPr>
            <p:cNvSpPr/>
            <p:nvPr/>
          </p:nvSpPr>
          <p:spPr>
            <a:xfrm>
              <a:off x="2441050" y="4048837"/>
              <a:ext cx="958731" cy="333143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Bruna Pedroni</a:t>
              </a:r>
            </a:p>
          </p:txBody>
        </p:sp>
        <p:sp>
          <p:nvSpPr>
            <p:cNvPr id="89" name="Retângulo: Cantos Arredondados 88">
              <a:extLst>
                <a:ext uri="{FF2B5EF4-FFF2-40B4-BE49-F238E27FC236}">
                  <a16:creationId xmlns:a16="http://schemas.microsoft.com/office/drawing/2014/main" id="{15983EAE-55BF-6B01-95DF-79A0275BF44C}"/>
                </a:ext>
              </a:extLst>
            </p:cNvPr>
            <p:cNvSpPr/>
            <p:nvPr/>
          </p:nvSpPr>
          <p:spPr>
            <a:xfrm>
              <a:off x="3532784" y="3105189"/>
              <a:ext cx="958731" cy="333143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Reinado Siqueira</a:t>
              </a:r>
            </a:p>
          </p:txBody>
        </p:sp>
        <p:sp>
          <p:nvSpPr>
            <p:cNvPr id="90" name="Retângulo: Cantos Arredondados 89">
              <a:extLst>
                <a:ext uri="{FF2B5EF4-FFF2-40B4-BE49-F238E27FC236}">
                  <a16:creationId xmlns:a16="http://schemas.microsoft.com/office/drawing/2014/main" id="{86144BED-BA7A-217F-83FC-B97773DE9FB3}"/>
                </a:ext>
              </a:extLst>
            </p:cNvPr>
            <p:cNvSpPr/>
            <p:nvPr/>
          </p:nvSpPr>
          <p:spPr>
            <a:xfrm>
              <a:off x="2437648" y="3101110"/>
              <a:ext cx="958731" cy="394457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Paulo Buchner</a:t>
              </a:r>
            </a:p>
          </p:txBody>
        </p:sp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id="{6C52CAD4-03B1-75DA-DE3A-B97FC4159BE3}"/>
                </a:ext>
              </a:extLst>
            </p:cNvPr>
            <p:cNvSpPr/>
            <p:nvPr/>
          </p:nvSpPr>
          <p:spPr>
            <a:xfrm>
              <a:off x="2441050" y="3580528"/>
              <a:ext cx="958731" cy="366540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Affonso Pereira</a:t>
              </a:r>
            </a:p>
          </p:txBody>
        </p:sp>
        <p:sp>
          <p:nvSpPr>
            <p:cNvPr id="93" name="Retângulo: Cantos Arredondados 92">
              <a:extLst>
                <a:ext uri="{FF2B5EF4-FFF2-40B4-BE49-F238E27FC236}">
                  <a16:creationId xmlns:a16="http://schemas.microsoft.com/office/drawing/2014/main" id="{C84F3AF4-7FBA-74FD-5780-715A5F4B9FCA}"/>
                </a:ext>
              </a:extLst>
            </p:cNvPr>
            <p:cNvSpPr/>
            <p:nvPr/>
          </p:nvSpPr>
          <p:spPr>
            <a:xfrm>
              <a:off x="4782019" y="1782932"/>
              <a:ext cx="958731" cy="627002"/>
            </a:xfrm>
            <a:prstGeom prst="roundRect">
              <a:avLst/>
            </a:prstGeom>
            <a:solidFill>
              <a:srgbClr val="8C5F0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spc="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Economista Chefe</a:t>
              </a:r>
            </a:p>
            <a:p>
              <a:pPr algn="ctr"/>
              <a:endParaRPr lang="pt-BR" sz="6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800" dirty="0">
                  <a:latin typeface="Aptos Display" panose="020B0004020202020204" pitchFamily="34" charset="0"/>
                </a:rPr>
                <a:t>Luiz Furlani</a:t>
              </a:r>
            </a:p>
          </p:txBody>
        </p:sp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A8E5C784-35D4-FAE9-39A6-C8DC9FE2165A}"/>
                </a:ext>
              </a:extLst>
            </p:cNvPr>
            <p:cNvSpPr/>
            <p:nvPr/>
          </p:nvSpPr>
          <p:spPr>
            <a:xfrm>
              <a:off x="4093659" y="910714"/>
              <a:ext cx="958731" cy="627002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800" b="1" spc="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Diretor de Gestão</a:t>
              </a:r>
            </a:p>
            <a:p>
              <a:pPr algn="ctr"/>
              <a:endParaRPr lang="pt-BR" sz="600" dirty="0">
                <a:latin typeface="Aptos Display" panose="020B0004020202020204" pitchFamily="34" charset="0"/>
              </a:endParaRPr>
            </a:p>
            <a:p>
              <a:pPr algn="ctr"/>
              <a:r>
                <a:rPr lang="pt-BR" sz="800" dirty="0">
                  <a:latin typeface="Aptos Display" panose="020B0004020202020204" pitchFamily="34" charset="0"/>
                </a:rPr>
                <a:t>Ricardo Sommer</a:t>
              </a:r>
            </a:p>
          </p:txBody>
        </p:sp>
        <p:sp>
          <p:nvSpPr>
            <p:cNvPr id="95" name="Retângulo: Cantos Arredondados 94">
              <a:extLst>
                <a:ext uri="{FF2B5EF4-FFF2-40B4-BE49-F238E27FC236}">
                  <a16:creationId xmlns:a16="http://schemas.microsoft.com/office/drawing/2014/main" id="{5A1D056D-F066-8404-98CF-128B9A0F5F4E}"/>
                </a:ext>
              </a:extLst>
            </p:cNvPr>
            <p:cNvSpPr/>
            <p:nvPr/>
          </p:nvSpPr>
          <p:spPr>
            <a:xfrm>
              <a:off x="4782019" y="2561221"/>
              <a:ext cx="958731" cy="423714"/>
            </a:xfrm>
            <a:prstGeom prst="roundRect">
              <a:avLst/>
            </a:prstGeom>
            <a:solidFill>
              <a:srgbClr val="A98F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</a:rPr>
                <a:t>Julia </a:t>
              </a:r>
              <a:r>
                <a:rPr lang="pt-BR" sz="750" dirty="0" err="1">
                  <a:latin typeface="Aptos Display" panose="020B0004020202020204" pitchFamily="34" charset="0"/>
                </a:rPr>
                <a:t>Rizzoto</a:t>
              </a:r>
              <a:endParaRPr lang="pt-BR" sz="750" dirty="0">
                <a:latin typeface="Aptos Display" panose="020B0004020202020204" pitchFamily="34" charset="0"/>
              </a:endParaRPr>
            </a:p>
          </p:txBody>
        </p:sp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A396EC99-5D1C-CB82-5597-EB84E8BDD924}"/>
                </a:ext>
              </a:extLst>
            </p:cNvPr>
            <p:cNvSpPr/>
            <p:nvPr/>
          </p:nvSpPr>
          <p:spPr>
            <a:xfrm>
              <a:off x="4782037" y="3199772"/>
              <a:ext cx="958731" cy="423714"/>
            </a:xfrm>
            <a:prstGeom prst="roundRect">
              <a:avLst/>
            </a:prstGeom>
            <a:solidFill>
              <a:srgbClr val="A98F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 err="1">
                  <a:latin typeface="Aptos Display" panose="020B0004020202020204" pitchFamily="34" charset="0"/>
                </a:rPr>
                <a:t>Werley</a:t>
              </a:r>
              <a:r>
                <a:rPr lang="pt-BR" sz="750" dirty="0">
                  <a:latin typeface="Aptos Display" panose="020B0004020202020204" pitchFamily="34" charset="0"/>
                </a:rPr>
                <a:t> Cordeiro</a:t>
              </a:r>
            </a:p>
          </p:txBody>
        </p:sp>
        <p:cxnSp>
          <p:nvCxnSpPr>
            <p:cNvPr id="98" name="Conector: Angulado 97">
              <a:extLst>
                <a:ext uri="{FF2B5EF4-FFF2-40B4-BE49-F238E27FC236}">
                  <a16:creationId xmlns:a16="http://schemas.microsoft.com/office/drawing/2014/main" id="{D4D0956B-65CC-4925-6915-E3334CAE7AF8}"/>
                </a:ext>
              </a:extLst>
            </p:cNvPr>
            <p:cNvCxnSpPr>
              <a:cxnSpLocks/>
              <a:stCxn id="94" idx="2"/>
              <a:endCxn id="83" idx="0"/>
            </p:cNvCxnSpPr>
            <p:nvPr/>
          </p:nvCxnSpPr>
          <p:spPr>
            <a:xfrm rot="5400000">
              <a:off x="3363761" y="545170"/>
              <a:ext cx="216719" cy="2201810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: Angulado 98">
              <a:extLst>
                <a:ext uri="{FF2B5EF4-FFF2-40B4-BE49-F238E27FC236}">
                  <a16:creationId xmlns:a16="http://schemas.microsoft.com/office/drawing/2014/main" id="{19A7AB38-4035-CD64-2B92-1F23D4F39C87}"/>
                </a:ext>
              </a:extLst>
            </p:cNvPr>
            <p:cNvCxnSpPr>
              <a:stCxn id="94" idx="2"/>
              <a:endCxn id="132" idx="0"/>
            </p:cNvCxnSpPr>
            <p:nvPr/>
          </p:nvCxnSpPr>
          <p:spPr>
            <a:xfrm rot="16200000" flipH="1">
              <a:off x="5965021" y="145720"/>
              <a:ext cx="197404" cy="2981396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: Angulado 99">
              <a:extLst>
                <a:ext uri="{FF2B5EF4-FFF2-40B4-BE49-F238E27FC236}">
                  <a16:creationId xmlns:a16="http://schemas.microsoft.com/office/drawing/2014/main" id="{9957EEE3-7BAC-BBA3-CE09-E51701BB02E6}"/>
                </a:ext>
              </a:extLst>
            </p:cNvPr>
            <p:cNvCxnSpPr>
              <a:stCxn id="94" idx="2"/>
              <a:endCxn id="93" idx="0"/>
            </p:cNvCxnSpPr>
            <p:nvPr/>
          </p:nvCxnSpPr>
          <p:spPr>
            <a:xfrm rot="16200000" flipH="1">
              <a:off x="4794596" y="1316143"/>
              <a:ext cx="245217" cy="688361"/>
            </a:xfrm>
            <a:prstGeom prst="bentConnector3">
              <a:avLst>
                <a:gd name="adj1" fmla="val 43526"/>
              </a:avLst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: Angulado 100">
              <a:extLst>
                <a:ext uri="{FF2B5EF4-FFF2-40B4-BE49-F238E27FC236}">
                  <a16:creationId xmlns:a16="http://schemas.microsoft.com/office/drawing/2014/main" id="{90D4BFA3-5917-0748-731C-420C32E93A9A}"/>
                </a:ext>
              </a:extLst>
            </p:cNvPr>
            <p:cNvCxnSpPr>
              <a:cxnSpLocks/>
              <a:stCxn id="83" idx="2"/>
              <a:endCxn id="87" idx="0"/>
            </p:cNvCxnSpPr>
            <p:nvPr/>
          </p:nvCxnSpPr>
          <p:spPr>
            <a:xfrm rot="16200000" flipH="1">
              <a:off x="3092794" y="1659857"/>
              <a:ext cx="186399" cy="1629557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: Angulado 101">
              <a:extLst>
                <a:ext uri="{FF2B5EF4-FFF2-40B4-BE49-F238E27FC236}">
                  <a16:creationId xmlns:a16="http://schemas.microsoft.com/office/drawing/2014/main" id="{287225C6-85CF-B2A4-86A9-064306ED341A}"/>
                </a:ext>
              </a:extLst>
            </p:cNvPr>
            <p:cNvCxnSpPr>
              <a:cxnSpLocks/>
              <a:stCxn id="83" idx="2"/>
              <a:endCxn id="84" idx="0"/>
            </p:cNvCxnSpPr>
            <p:nvPr/>
          </p:nvCxnSpPr>
          <p:spPr>
            <a:xfrm rot="5400000">
              <a:off x="1473675" y="1662517"/>
              <a:ext cx="178621" cy="1616461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: Angulado 102">
              <a:extLst>
                <a:ext uri="{FF2B5EF4-FFF2-40B4-BE49-F238E27FC236}">
                  <a16:creationId xmlns:a16="http://schemas.microsoft.com/office/drawing/2014/main" id="{83AF48D2-1054-4DFE-981B-1E7290070236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 rot="10800000" flipV="1">
              <a:off x="1865697" y="2474635"/>
              <a:ext cx="494452" cy="93201"/>
            </a:xfrm>
            <a:prstGeom prst="bentConnector2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: Angulado 103">
              <a:extLst>
                <a:ext uri="{FF2B5EF4-FFF2-40B4-BE49-F238E27FC236}">
                  <a16:creationId xmlns:a16="http://schemas.microsoft.com/office/drawing/2014/main" id="{ACA8E5C0-E5D3-E456-2961-830E257067A1}"/>
                </a:ext>
              </a:extLst>
            </p:cNvPr>
            <p:cNvCxnSpPr>
              <a:cxnSpLocks/>
              <a:stCxn id="83" idx="2"/>
              <a:endCxn id="86" idx="0"/>
            </p:cNvCxnSpPr>
            <p:nvPr/>
          </p:nvCxnSpPr>
          <p:spPr>
            <a:xfrm rot="16200000" flipH="1">
              <a:off x="2550915" y="2201736"/>
              <a:ext cx="186399" cy="545799"/>
            </a:xfrm>
            <a:prstGeom prst="bentConnector3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to 104">
              <a:extLst>
                <a:ext uri="{FF2B5EF4-FFF2-40B4-BE49-F238E27FC236}">
                  <a16:creationId xmlns:a16="http://schemas.microsoft.com/office/drawing/2014/main" id="{8A464423-4318-88DA-6DC9-6DFC8B553D9F}"/>
                </a:ext>
              </a:extLst>
            </p:cNvPr>
            <p:cNvCxnSpPr>
              <a:cxnSpLocks/>
              <a:stCxn id="91" idx="2"/>
              <a:endCxn id="88" idx="0"/>
            </p:cNvCxnSpPr>
            <p:nvPr/>
          </p:nvCxnSpPr>
          <p:spPr>
            <a:xfrm>
              <a:off x="2920416" y="3947068"/>
              <a:ext cx="0" cy="101769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to 105">
              <a:extLst>
                <a:ext uri="{FF2B5EF4-FFF2-40B4-BE49-F238E27FC236}">
                  <a16:creationId xmlns:a16="http://schemas.microsoft.com/office/drawing/2014/main" id="{3515B0C7-0E90-844C-88A2-1B935A791588}"/>
                </a:ext>
              </a:extLst>
            </p:cNvPr>
            <p:cNvCxnSpPr>
              <a:cxnSpLocks/>
              <a:stCxn id="87" idx="2"/>
              <a:endCxn id="89" idx="0"/>
            </p:cNvCxnSpPr>
            <p:nvPr/>
          </p:nvCxnSpPr>
          <p:spPr>
            <a:xfrm>
              <a:off x="4000772" y="2991550"/>
              <a:ext cx="11378" cy="113639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to 106">
              <a:extLst>
                <a:ext uri="{FF2B5EF4-FFF2-40B4-BE49-F238E27FC236}">
                  <a16:creationId xmlns:a16="http://schemas.microsoft.com/office/drawing/2014/main" id="{33659573-9883-E3D9-C818-836F2212CF2C}"/>
                </a:ext>
              </a:extLst>
            </p:cNvPr>
            <p:cNvCxnSpPr>
              <a:cxnSpLocks/>
              <a:stCxn id="86" idx="2"/>
              <a:endCxn id="90" idx="0"/>
            </p:cNvCxnSpPr>
            <p:nvPr/>
          </p:nvCxnSpPr>
          <p:spPr>
            <a:xfrm>
              <a:off x="2917014" y="2991550"/>
              <a:ext cx="0" cy="109560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to 107">
              <a:extLst>
                <a:ext uri="{FF2B5EF4-FFF2-40B4-BE49-F238E27FC236}">
                  <a16:creationId xmlns:a16="http://schemas.microsoft.com/office/drawing/2014/main" id="{176DD373-96A8-AAAA-9B14-B7E2BB639C1A}"/>
                </a:ext>
              </a:extLst>
            </p:cNvPr>
            <p:cNvCxnSpPr>
              <a:cxnSpLocks/>
              <a:stCxn id="90" idx="2"/>
              <a:endCxn id="91" idx="0"/>
            </p:cNvCxnSpPr>
            <p:nvPr/>
          </p:nvCxnSpPr>
          <p:spPr>
            <a:xfrm>
              <a:off x="2917014" y="3495567"/>
              <a:ext cx="3402" cy="84961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reto 109">
              <a:extLst>
                <a:ext uri="{FF2B5EF4-FFF2-40B4-BE49-F238E27FC236}">
                  <a16:creationId xmlns:a16="http://schemas.microsoft.com/office/drawing/2014/main" id="{EC05CA75-2F90-A577-F7DB-71CEB53A0B5C}"/>
                </a:ext>
              </a:extLst>
            </p:cNvPr>
            <p:cNvCxnSpPr>
              <a:cxnSpLocks/>
              <a:stCxn id="93" idx="2"/>
              <a:endCxn id="95" idx="0"/>
            </p:cNvCxnSpPr>
            <p:nvPr/>
          </p:nvCxnSpPr>
          <p:spPr>
            <a:xfrm flipH="1">
              <a:off x="5261384" y="2409934"/>
              <a:ext cx="1" cy="151287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>
              <a:extLst>
                <a:ext uri="{FF2B5EF4-FFF2-40B4-BE49-F238E27FC236}">
                  <a16:creationId xmlns:a16="http://schemas.microsoft.com/office/drawing/2014/main" id="{5FD540AF-D672-2DFB-4CE6-0CD9B6A01DEF}"/>
                </a:ext>
              </a:extLst>
            </p:cNvPr>
            <p:cNvCxnSpPr>
              <a:cxnSpLocks/>
              <a:stCxn id="95" idx="2"/>
            </p:cNvCxnSpPr>
            <p:nvPr/>
          </p:nvCxnSpPr>
          <p:spPr>
            <a:xfrm flipH="1">
              <a:off x="5259928" y="2984935"/>
              <a:ext cx="1456" cy="151287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to 111">
              <a:extLst>
                <a:ext uri="{FF2B5EF4-FFF2-40B4-BE49-F238E27FC236}">
                  <a16:creationId xmlns:a16="http://schemas.microsoft.com/office/drawing/2014/main" id="{862A93F6-3BB9-9137-133C-EDE0FA093473}"/>
                </a:ext>
              </a:extLst>
            </p:cNvPr>
            <p:cNvCxnSpPr>
              <a:cxnSpLocks/>
              <a:endCxn id="97" idx="0"/>
            </p:cNvCxnSpPr>
            <p:nvPr/>
          </p:nvCxnSpPr>
          <p:spPr>
            <a:xfrm>
              <a:off x="5259928" y="3053488"/>
              <a:ext cx="1474" cy="146285"/>
            </a:xfrm>
            <a:prstGeom prst="line">
              <a:avLst/>
            </a:prstGeom>
            <a:ln>
              <a:solidFill>
                <a:srgbClr val="64C83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Retângulo: Cantos Arredondados 112">
              <a:extLst>
                <a:ext uri="{FF2B5EF4-FFF2-40B4-BE49-F238E27FC236}">
                  <a16:creationId xmlns:a16="http://schemas.microsoft.com/office/drawing/2014/main" id="{A4C2C85D-F0D1-C64F-014E-751239A383C2}"/>
                </a:ext>
              </a:extLst>
            </p:cNvPr>
            <p:cNvSpPr/>
            <p:nvPr/>
          </p:nvSpPr>
          <p:spPr>
            <a:xfrm>
              <a:off x="257428" y="3126734"/>
              <a:ext cx="989240" cy="407196"/>
            </a:xfrm>
            <a:prstGeom prst="roundRect">
              <a:avLst/>
            </a:prstGeom>
            <a:solidFill>
              <a:srgbClr val="4D7D5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750" dirty="0">
                  <a:latin typeface="Aptos Display" panose="020B0004020202020204" pitchFamily="34" charset="0"/>
                  <a:ea typeface="Microsoft GothicNeo" panose="020B0503020000020004" pitchFamily="34" charset="-127"/>
                  <a:cs typeface="Microsoft GothicNeo" panose="020B0503020000020004" pitchFamily="34" charset="-127"/>
                </a:rPr>
                <a:t>Bernardo Machado</a:t>
              </a:r>
            </a:p>
          </p:txBody>
        </p:sp>
        <p:pic>
          <p:nvPicPr>
            <p:cNvPr id="115" name="Imagem 114">
              <a:extLst>
                <a:ext uri="{FF2B5EF4-FFF2-40B4-BE49-F238E27FC236}">
                  <a16:creationId xmlns:a16="http://schemas.microsoft.com/office/drawing/2014/main" id="{E72DB412-F3CE-17F6-28E0-1106B864A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9504" y="1268075"/>
              <a:ext cx="277332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6" name="Imagem 115">
              <a:extLst>
                <a:ext uri="{FF2B5EF4-FFF2-40B4-BE49-F238E27FC236}">
                  <a16:creationId xmlns:a16="http://schemas.microsoft.com/office/drawing/2014/main" id="{A6E49B86-6B16-3C78-E41D-3F29413C3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4714" y="3263839"/>
              <a:ext cx="304616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7" name="Imagem 116">
              <a:extLst>
                <a:ext uri="{FF2B5EF4-FFF2-40B4-BE49-F238E27FC236}">
                  <a16:creationId xmlns:a16="http://schemas.microsoft.com/office/drawing/2014/main" id="{21C9C15D-4E7F-FB88-38DE-E3803317C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79952" y="2715701"/>
              <a:ext cx="32400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8" name="Imagem 117">
              <a:extLst>
                <a:ext uri="{FF2B5EF4-FFF2-40B4-BE49-F238E27FC236}">
                  <a16:creationId xmlns:a16="http://schemas.microsoft.com/office/drawing/2014/main" id="{4C9FB388-1449-B19E-3BF0-28EDF9C87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571300" y="2157385"/>
              <a:ext cx="33000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19" name="Imagem 118">
              <a:extLst>
                <a:ext uri="{FF2B5EF4-FFF2-40B4-BE49-F238E27FC236}">
                  <a16:creationId xmlns:a16="http://schemas.microsoft.com/office/drawing/2014/main" id="{81E1658F-A2A3-B24F-6EBE-A7C81C8B4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734677" y="2067493"/>
              <a:ext cx="367060" cy="320343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0" name="Imagem 119">
              <a:extLst>
                <a:ext uri="{FF2B5EF4-FFF2-40B4-BE49-F238E27FC236}">
                  <a16:creationId xmlns:a16="http://schemas.microsoft.com/office/drawing/2014/main" id="{A63101B8-A12F-E710-4E36-30127C492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328733" y="2732184"/>
              <a:ext cx="381823" cy="319343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1" name="Imagem 120">
              <a:extLst>
                <a:ext uri="{FF2B5EF4-FFF2-40B4-BE49-F238E27FC236}">
                  <a16:creationId xmlns:a16="http://schemas.microsoft.com/office/drawing/2014/main" id="{47B7F4FF-8EAB-7AB0-70BF-07489F225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230454" y="3703561"/>
              <a:ext cx="28800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2" name="Imagem 121">
              <a:extLst>
                <a:ext uri="{FF2B5EF4-FFF2-40B4-BE49-F238E27FC236}">
                  <a16:creationId xmlns:a16="http://schemas.microsoft.com/office/drawing/2014/main" id="{53500A8E-8512-DCC4-DE8E-DD2956699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3249956" y="4171603"/>
              <a:ext cx="30528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3" name="Imagem 122">
              <a:extLst>
                <a:ext uri="{FF2B5EF4-FFF2-40B4-BE49-F238E27FC236}">
                  <a16:creationId xmlns:a16="http://schemas.microsoft.com/office/drawing/2014/main" id="{B55279ED-7FCD-83E6-FFA8-888563AAA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64714" y="2742248"/>
              <a:ext cx="305632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4" name="Imagem 123">
              <a:extLst>
                <a:ext uri="{FF2B5EF4-FFF2-40B4-BE49-F238E27FC236}">
                  <a16:creationId xmlns:a16="http://schemas.microsoft.com/office/drawing/2014/main" id="{48DE7C74-2082-5777-6C66-9C0B7B3D7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4349537" y="3285251"/>
              <a:ext cx="325564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6" name="Imagem 125">
              <a:extLst>
                <a:ext uri="{FF2B5EF4-FFF2-40B4-BE49-F238E27FC236}">
                  <a16:creationId xmlns:a16="http://schemas.microsoft.com/office/drawing/2014/main" id="{B1D89D73-7837-8B4C-A50D-CEEE8BAF6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1220286" y="2789960"/>
              <a:ext cx="335020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7" name="Imagem 126">
              <a:extLst>
                <a:ext uri="{FF2B5EF4-FFF2-40B4-BE49-F238E27FC236}">
                  <a16:creationId xmlns:a16="http://schemas.microsoft.com/office/drawing/2014/main" id="{80FE565E-FF16-0496-2161-E23D8FBB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196495" y="2791624"/>
              <a:ext cx="299076" cy="288000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8" name="Imagem 127">
              <a:extLst>
                <a:ext uri="{FF2B5EF4-FFF2-40B4-BE49-F238E27FC236}">
                  <a16:creationId xmlns:a16="http://schemas.microsoft.com/office/drawing/2014/main" id="{F48BCCAF-3845-C5C6-5BF3-3E4475ED89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3198928" y="3233414"/>
              <a:ext cx="330217" cy="311166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129" name="Imagem 128">
              <a:extLst>
                <a:ext uri="{FF2B5EF4-FFF2-40B4-BE49-F238E27FC236}">
                  <a16:creationId xmlns:a16="http://schemas.microsoft.com/office/drawing/2014/main" id="{63367A72-7ED7-6B55-CF0E-23098D5E8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5586244" y="3320359"/>
              <a:ext cx="311166" cy="311166"/>
            </a:xfrm>
            <a:prstGeom prst="ellipse">
              <a:avLst/>
            </a:prstGeom>
            <a:ln w="3175" cap="rnd">
              <a:solidFill>
                <a:srgbClr val="5AB52C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grpSp>
          <p:nvGrpSpPr>
            <p:cNvPr id="130" name="Agrupar 129">
              <a:extLst>
                <a:ext uri="{FF2B5EF4-FFF2-40B4-BE49-F238E27FC236}">
                  <a16:creationId xmlns:a16="http://schemas.microsoft.com/office/drawing/2014/main" id="{C4843939-E67E-4253-19A9-22B02CB82CD7}"/>
                </a:ext>
              </a:extLst>
            </p:cNvPr>
            <p:cNvGrpSpPr/>
            <p:nvPr/>
          </p:nvGrpSpPr>
          <p:grpSpPr>
            <a:xfrm>
              <a:off x="6214947" y="1735120"/>
              <a:ext cx="2712082" cy="2515869"/>
              <a:chOff x="5877721" y="1735120"/>
              <a:chExt cx="2712082" cy="2515869"/>
            </a:xfrm>
          </p:grpSpPr>
          <p:sp>
            <p:nvSpPr>
              <p:cNvPr id="132" name="Retângulo: Cantos Arredondados 131">
                <a:extLst>
                  <a:ext uri="{FF2B5EF4-FFF2-40B4-BE49-F238E27FC236}">
                    <a16:creationId xmlns:a16="http://schemas.microsoft.com/office/drawing/2014/main" id="{7999593F-5FD1-4E73-DCF4-AAFF09AF0B8F}"/>
                  </a:ext>
                </a:extLst>
              </p:cNvPr>
              <p:cNvSpPr/>
              <p:nvPr/>
            </p:nvSpPr>
            <p:spPr>
              <a:xfrm>
                <a:off x="6737829" y="1735120"/>
                <a:ext cx="958731" cy="627002"/>
              </a:xfrm>
              <a:prstGeom prst="roundRect">
                <a:avLst/>
              </a:prstGeom>
              <a:solidFill>
                <a:srgbClr val="5A645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800" b="1" spc="50" dirty="0">
                    <a:latin typeface="Aptos Display" panose="020B0004020202020204" pitchFamily="34" charset="0"/>
                    <a:ea typeface="Microsoft GothicNeo" panose="020B0503020000020004" pitchFamily="34" charset="-127"/>
                    <a:cs typeface="Microsoft GothicNeo" panose="020B0503020000020004" pitchFamily="34" charset="-127"/>
                  </a:rPr>
                  <a:t>Middle e Produtos</a:t>
                </a:r>
              </a:p>
              <a:p>
                <a:pPr algn="ctr"/>
                <a:endParaRPr lang="pt-BR" sz="600" dirty="0">
                  <a:latin typeface="Aptos Display" panose="020B0004020202020204" pitchFamily="34" charset="0"/>
                </a:endParaRPr>
              </a:p>
              <a:p>
                <a:pPr algn="ctr"/>
                <a:r>
                  <a:rPr lang="pt-BR" sz="800" dirty="0">
                    <a:latin typeface="Aptos Display" panose="020B0004020202020204" pitchFamily="34" charset="0"/>
                  </a:rPr>
                  <a:t>Marcio Diogo </a:t>
                </a:r>
              </a:p>
            </p:txBody>
          </p:sp>
          <p:sp>
            <p:nvSpPr>
              <p:cNvPr id="133" name="Retângulo: Cantos Arredondados 132">
                <a:extLst>
                  <a:ext uri="{FF2B5EF4-FFF2-40B4-BE49-F238E27FC236}">
                    <a16:creationId xmlns:a16="http://schemas.microsoft.com/office/drawing/2014/main" id="{09F8BF24-6503-89A6-4014-39F649204F6F}"/>
                  </a:ext>
                </a:extLst>
              </p:cNvPr>
              <p:cNvSpPr/>
              <p:nvPr/>
            </p:nvSpPr>
            <p:spPr>
              <a:xfrm>
                <a:off x="5975475" y="2500012"/>
                <a:ext cx="1137388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Alana Ritzel</a:t>
                </a:r>
              </a:p>
            </p:txBody>
          </p:sp>
          <p:sp>
            <p:nvSpPr>
              <p:cNvPr id="134" name="Retângulo: Cantos Arredondados 133">
                <a:extLst>
                  <a:ext uri="{FF2B5EF4-FFF2-40B4-BE49-F238E27FC236}">
                    <a16:creationId xmlns:a16="http://schemas.microsoft.com/office/drawing/2014/main" id="{5896D6FA-3373-7C20-102B-C276621A33F7}"/>
                  </a:ext>
                </a:extLst>
              </p:cNvPr>
              <p:cNvSpPr/>
              <p:nvPr/>
            </p:nvSpPr>
            <p:spPr>
              <a:xfrm>
                <a:off x="7339483" y="2500012"/>
                <a:ext cx="1144253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Ankize Begnini</a:t>
                </a:r>
              </a:p>
            </p:txBody>
          </p:sp>
          <p:sp>
            <p:nvSpPr>
              <p:cNvPr id="135" name="Retângulo: Cantos Arredondados 134">
                <a:extLst>
                  <a:ext uri="{FF2B5EF4-FFF2-40B4-BE49-F238E27FC236}">
                    <a16:creationId xmlns:a16="http://schemas.microsoft.com/office/drawing/2014/main" id="{2CDEB072-DC0D-A4C7-8986-4C02F88B08A7}"/>
                  </a:ext>
                </a:extLst>
              </p:cNvPr>
              <p:cNvSpPr/>
              <p:nvPr/>
            </p:nvSpPr>
            <p:spPr>
              <a:xfrm>
                <a:off x="5980331" y="3706220"/>
                <a:ext cx="1137388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Rafael Mosmann</a:t>
                </a:r>
              </a:p>
            </p:txBody>
          </p:sp>
          <p:sp>
            <p:nvSpPr>
              <p:cNvPr id="136" name="Retângulo: Cantos Arredondados 135">
                <a:extLst>
                  <a:ext uri="{FF2B5EF4-FFF2-40B4-BE49-F238E27FC236}">
                    <a16:creationId xmlns:a16="http://schemas.microsoft.com/office/drawing/2014/main" id="{CC4AF08F-6345-E530-955E-E16CA3030B57}"/>
                  </a:ext>
                </a:extLst>
              </p:cNvPr>
              <p:cNvSpPr/>
              <p:nvPr/>
            </p:nvSpPr>
            <p:spPr>
              <a:xfrm>
                <a:off x="5980163" y="3102530"/>
                <a:ext cx="1137388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Dionatan Silva</a:t>
                </a:r>
              </a:p>
            </p:txBody>
          </p:sp>
          <p:sp>
            <p:nvSpPr>
              <p:cNvPr id="137" name="Retângulo: Cantos Arredondados 136">
                <a:extLst>
                  <a:ext uri="{FF2B5EF4-FFF2-40B4-BE49-F238E27FC236}">
                    <a16:creationId xmlns:a16="http://schemas.microsoft.com/office/drawing/2014/main" id="{1F039B11-BE13-EBD4-6469-F3378DC60FA9}"/>
                  </a:ext>
                </a:extLst>
              </p:cNvPr>
              <p:cNvSpPr/>
              <p:nvPr/>
            </p:nvSpPr>
            <p:spPr>
              <a:xfrm>
                <a:off x="7339619" y="3102530"/>
                <a:ext cx="1144117" cy="491538"/>
              </a:xfrm>
              <a:prstGeom prst="roundRect">
                <a:avLst/>
              </a:prstGeom>
              <a:solidFill>
                <a:srgbClr val="8A91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750" dirty="0">
                    <a:latin typeface="Aptos Display" panose="020B0004020202020204" pitchFamily="34" charset="0"/>
                  </a:rPr>
                  <a:t>Greice Heemann</a:t>
                </a:r>
              </a:p>
            </p:txBody>
          </p:sp>
          <p:pic>
            <p:nvPicPr>
              <p:cNvPr id="138" name="Imagem 137">
                <a:extLst>
                  <a:ext uri="{FF2B5EF4-FFF2-40B4-BE49-F238E27FC236}">
                    <a16:creationId xmlns:a16="http://schemas.microsoft.com/office/drawing/2014/main" id="{BB18EEC4-00D2-484A-7E41-E2FD1271E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alphaModFix/>
              </a:blip>
              <a:stretch>
                <a:fillRect/>
              </a:stretch>
            </p:blipFill>
            <p:spPr>
              <a:xfrm>
                <a:off x="5921775" y="2748188"/>
                <a:ext cx="277332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39" name="Imagem 138">
                <a:extLst>
                  <a:ext uri="{FF2B5EF4-FFF2-40B4-BE49-F238E27FC236}">
                    <a16:creationId xmlns:a16="http://schemas.microsoft.com/office/drawing/2014/main" id="{1E101EC6-5F5A-7322-1E94-816A52D623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alphaModFix/>
              </a:blip>
              <a:stretch>
                <a:fillRect/>
              </a:stretch>
            </p:blipFill>
            <p:spPr>
              <a:xfrm>
                <a:off x="5877721" y="3962989"/>
                <a:ext cx="305632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40" name="Imagem 139">
                <a:extLst>
                  <a:ext uri="{FF2B5EF4-FFF2-40B4-BE49-F238E27FC236}">
                    <a16:creationId xmlns:a16="http://schemas.microsoft.com/office/drawing/2014/main" id="{671551F4-7A57-C179-5DD3-8B1957217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alphaModFix/>
              </a:blip>
              <a:stretch>
                <a:fillRect/>
              </a:stretch>
            </p:blipFill>
            <p:spPr>
              <a:xfrm>
                <a:off x="8267112" y="2717172"/>
                <a:ext cx="310588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41" name="Imagem 140">
                <a:extLst>
                  <a:ext uri="{FF2B5EF4-FFF2-40B4-BE49-F238E27FC236}">
                    <a16:creationId xmlns:a16="http://schemas.microsoft.com/office/drawing/2014/main" id="{D7AFE024-23FB-B39E-4296-CD1FFCE89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alphaModFix/>
              </a:blip>
              <a:stretch>
                <a:fillRect/>
              </a:stretch>
            </p:blipFill>
            <p:spPr>
              <a:xfrm>
                <a:off x="7549736" y="2072745"/>
                <a:ext cx="293648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42" name="Imagem 141">
                <a:extLst>
                  <a:ext uri="{FF2B5EF4-FFF2-40B4-BE49-F238E27FC236}">
                    <a16:creationId xmlns:a16="http://schemas.microsoft.com/office/drawing/2014/main" id="{CDE9B179-C49D-B1E3-FE7E-846F258D87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alphaModFix/>
              </a:blip>
              <a:stretch>
                <a:fillRect/>
              </a:stretch>
            </p:blipFill>
            <p:spPr>
              <a:xfrm>
                <a:off x="5899351" y="3343446"/>
                <a:ext cx="299756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pic>
            <p:nvPicPr>
              <p:cNvPr id="143" name="Imagem 142">
                <a:extLst>
                  <a:ext uri="{FF2B5EF4-FFF2-40B4-BE49-F238E27FC236}">
                    <a16:creationId xmlns:a16="http://schemas.microsoft.com/office/drawing/2014/main" id="{05002E35-E3E5-E06F-CC4F-14991844E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alphaModFix/>
              </a:blip>
              <a:stretch>
                <a:fillRect/>
              </a:stretch>
            </p:blipFill>
            <p:spPr>
              <a:xfrm>
                <a:off x="8272415" y="3292528"/>
                <a:ext cx="317388" cy="288000"/>
              </a:xfrm>
              <a:prstGeom prst="ellipse">
                <a:avLst/>
              </a:prstGeom>
              <a:ln w="3175" cap="rnd">
                <a:solidFill>
                  <a:srgbClr val="5AB52C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cxnSp>
            <p:nvCxnSpPr>
              <p:cNvPr id="144" name="Conector: Angulado 143">
                <a:extLst>
                  <a:ext uri="{FF2B5EF4-FFF2-40B4-BE49-F238E27FC236}">
                    <a16:creationId xmlns:a16="http://schemas.microsoft.com/office/drawing/2014/main" id="{D55EDBB5-6201-6C48-48DD-53395B1B9EBB}"/>
                  </a:ext>
                </a:extLst>
              </p:cNvPr>
              <p:cNvCxnSpPr>
                <a:stCxn id="132" idx="2"/>
                <a:endCxn id="133" idx="3"/>
              </p:cNvCxnSpPr>
              <p:nvPr/>
            </p:nvCxnSpPr>
            <p:spPr>
              <a:xfrm rot="5400000">
                <a:off x="6973200" y="2501785"/>
                <a:ext cx="383659" cy="104332"/>
              </a:xfrm>
              <a:prstGeom prst="bentConnector2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5" name="Conector: Angulado 144">
                <a:extLst>
                  <a:ext uri="{FF2B5EF4-FFF2-40B4-BE49-F238E27FC236}">
                    <a16:creationId xmlns:a16="http://schemas.microsoft.com/office/drawing/2014/main" id="{79FE6DFB-5AFF-204A-7274-3D58BF75DC88}"/>
                  </a:ext>
                </a:extLst>
              </p:cNvPr>
              <p:cNvCxnSpPr>
                <a:stCxn id="132" idx="2"/>
                <a:endCxn id="134" idx="1"/>
              </p:cNvCxnSpPr>
              <p:nvPr/>
            </p:nvCxnSpPr>
            <p:spPr>
              <a:xfrm rot="16200000" flipH="1">
                <a:off x="7086510" y="2492807"/>
                <a:ext cx="383659" cy="122288"/>
              </a:xfrm>
              <a:prstGeom prst="bentConnector2">
                <a:avLst/>
              </a:prstGeom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6" name="Conector: Angulado 145">
                <a:extLst>
                  <a:ext uri="{FF2B5EF4-FFF2-40B4-BE49-F238E27FC236}">
                    <a16:creationId xmlns:a16="http://schemas.microsoft.com/office/drawing/2014/main" id="{69A5D440-BAC2-EA29-9274-2752D6EAD5DF}"/>
                  </a:ext>
                </a:extLst>
              </p:cNvPr>
              <p:cNvCxnSpPr>
                <a:stCxn id="132" idx="2"/>
                <a:endCxn id="136" idx="3"/>
              </p:cNvCxnSpPr>
              <p:nvPr/>
            </p:nvCxnSpPr>
            <p:spPr>
              <a:xfrm rot="5400000">
                <a:off x="6674285" y="2805388"/>
                <a:ext cx="986177" cy="99644"/>
              </a:xfrm>
              <a:prstGeom prst="bentConnector2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7" name="Conector: Angulado 146">
                <a:extLst>
                  <a:ext uri="{FF2B5EF4-FFF2-40B4-BE49-F238E27FC236}">
                    <a16:creationId xmlns:a16="http://schemas.microsoft.com/office/drawing/2014/main" id="{BC14E230-066C-9F9E-0EBB-4584FB7E27B5}"/>
                  </a:ext>
                </a:extLst>
              </p:cNvPr>
              <p:cNvCxnSpPr>
                <a:stCxn id="132" idx="2"/>
                <a:endCxn id="137" idx="1"/>
              </p:cNvCxnSpPr>
              <p:nvPr/>
            </p:nvCxnSpPr>
            <p:spPr>
              <a:xfrm rot="16200000" flipH="1">
                <a:off x="6785319" y="2793998"/>
                <a:ext cx="986177" cy="122424"/>
              </a:xfrm>
              <a:prstGeom prst="bentConnector2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48" name="Conector: Angulado 147">
                <a:extLst>
                  <a:ext uri="{FF2B5EF4-FFF2-40B4-BE49-F238E27FC236}">
                    <a16:creationId xmlns:a16="http://schemas.microsoft.com/office/drawing/2014/main" id="{1ED90A33-58D2-9D56-57F0-C41DFAC692BA}"/>
                  </a:ext>
                </a:extLst>
              </p:cNvPr>
              <p:cNvCxnSpPr>
                <a:stCxn id="132" idx="2"/>
                <a:endCxn id="135" idx="3"/>
              </p:cNvCxnSpPr>
              <p:nvPr/>
            </p:nvCxnSpPr>
            <p:spPr>
              <a:xfrm rot="5400000">
                <a:off x="6372524" y="3107317"/>
                <a:ext cx="1589867" cy="99476"/>
              </a:xfrm>
              <a:prstGeom prst="bentConnector2">
                <a:avLst/>
              </a:prstGeom>
              <a:ln>
                <a:solidFill>
                  <a:srgbClr val="92D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131" name="Conector reto 130">
              <a:extLst>
                <a:ext uri="{FF2B5EF4-FFF2-40B4-BE49-F238E27FC236}">
                  <a16:creationId xmlns:a16="http://schemas.microsoft.com/office/drawing/2014/main" id="{9E458F99-8B20-723B-9A54-FC48A5533114}"/>
                </a:ext>
              </a:extLst>
            </p:cNvPr>
            <p:cNvCxnSpPr>
              <a:cxnSpLocks/>
              <a:stCxn id="113" idx="0"/>
              <a:endCxn id="84" idx="2"/>
            </p:cNvCxnSpPr>
            <p:nvPr/>
          </p:nvCxnSpPr>
          <p:spPr>
            <a:xfrm flipV="1">
              <a:off x="752048" y="2983772"/>
              <a:ext cx="2706" cy="142962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" name="Rectangle 13">
            <a:extLst>
              <a:ext uri="{FF2B5EF4-FFF2-40B4-BE49-F238E27FC236}">
                <a16:creationId xmlns:a16="http://schemas.microsoft.com/office/drawing/2014/main" id="{278D26C4-A17C-DCEF-F7C1-FC675A3B03A7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Imagem 3" descr="Forma&#10;&#10;O conteúdo gerado por IA pode estar incorreto.">
            <a:extLst>
              <a:ext uri="{FF2B5EF4-FFF2-40B4-BE49-F238E27FC236}">
                <a16:creationId xmlns:a16="http://schemas.microsoft.com/office/drawing/2014/main" id="{421D5CBA-CE4D-FBE8-D9D8-EA0167DEF19A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E1FDC02-8514-2AC6-4A39-3DE062979FCF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3E1CB49C-2EA9-75C6-7B15-3CD26A2D1696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inal de Subtração 1">
            <a:extLst>
              <a:ext uri="{FF2B5EF4-FFF2-40B4-BE49-F238E27FC236}">
                <a16:creationId xmlns:a16="http://schemas.microsoft.com/office/drawing/2014/main" id="{EB27BD60-5CF1-E907-2355-506526493F17}"/>
              </a:ext>
            </a:extLst>
          </p:cNvPr>
          <p:cNvSpPr/>
          <p:nvPr/>
        </p:nvSpPr>
        <p:spPr>
          <a:xfrm flipV="1">
            <a:off x="365068" y="542847"/>
            <a:ext cx="498573" cy="240832"/>
          </a:xfrm>
          <a:prstGeom prst="mathMinus">
            <a:avLst/>
          </a:prstGeom>
          <a:solidFill>
            <a:srgbClr val="69B347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567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6164D-471E-FBA2-4BF2-C748C40F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1CE717-806E-75FB-6747-7B6CB914C6C0}"/>
              </a:ext>
            </a:extLst>
          </p:cNvPr>
          <p:cNvSpPr txBox="1"/>
          <p:nvPr/>
        </p:nvSpPr>
        <p:spPr>
          <a:xfrm>
            <a:off x="329421" y="195716"/>
            <a:ext cx="485025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0" b="1" dirty="0">
                <a:solidFill>
                  <a:schemeClr val="bg2">
                    <a:lumMod val="25000"/>
                  </a:schemeClr>
                </a:solidFill>
                <a:latin typeface="Exo 2.0" panose="00000500000000000000" pitchFamily="50" charset="0"/>
                <a:ea typeface="Exo 2 ExtraLight Italic" pitchFamily="34" charset="-122"/>
                <a:cs typeface="Exo 2 ExtraLight Italic" pitchFamily="34" charset="-120"/>
              </a:rPr>
              <a:t>Crenças</a:t>
            </a:r>
            <a:r>
              <a:rPr lang="pt-BR" sz="700" dirty="0">
                <a:solidFill>
                  <a:schemeClr val="bg2">
                    <a:lumMod val="25000"/>
                  </a:schemeClr>
                </a:solidFill>
                <a:latin typeface="Exo 2.0 Extra Bold"/>
                <a:ea typeface="Exo 2 ExtraLight Italic" pitchFamily="34" charset="-122"/>
                <a:cs typeface="Exo 2 ExtraLight Italic" pitchFamily="34" charset="-120"/>
              </a:rPr>
              <a:t> </a:t>
            </a:r>
            <a:endParaRPr lang="pt-BR" sz="675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4BBF9C5-53E3-B94B-F219-8A9A7EDA3099}"/>
              </a:ext>
            </a:extLst>
          </p:cNvPr>
          <p:cNvSpPr/>
          <p:nvPr/>
        </p:nvSpPr>
        <p:spPr>
          <a:xfrm>
            <a:off x="4056493" y="2580569"/>
            <a:ext cx="71327" cy="3086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D8FD4EB-FCD5-7B7D-2042-2B03139B298F}"/>
              </a:ext>
            </a:extLst>
          </p:cNvPr>
          <p:cNvSpPr/>
          <p:nvPr/>
        </p:nvSpPr>
        <p:spPr>
          <a:xfrm>
            <a:off x="7207" y="192179"/>
            <a:ext cx="269168" cy="113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5081DDBB-2078-73FE-EB58-96DE02581F53}"/>
              </a:ext>
            </a:extLst>
          </p:cNvPr>
          <p:cNvSpPr/>
          <p:nvPr/>
        </p:nvSpPr>
        <p:spPr>
          <a:xfrm>
            <a:off x="470254" y="104315"/>
            <a:ext cx="1231332" cy="42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89">
              <a:lnSpc>
                <a:spcPts val="3375"/>
              </a:lnSpc>
            </a:pPr>
            <a:r>
              <a:rPr lang="pt-BR" sz="2250" b="1" dirty="0">
                <a:solidFill>
                  <a:schemeClr val="bg2">
                    <a:lumMod val="25000"/>
                  </a:schemeClr>
                </a:solidFill>
                <a:latin typeface="Exo 2.0" panose="00000500000000000000" pitchFamily="50" charset="0"/>
                <a:ea typeface="Exo 2 ExtraLight Italic" pitchFamily="34" charset="-122"/>
                <a:cs typeface="Exo 2 ExtraLight Italic" pitchFamily="34" charset="-120"/>
              </a:rPr>
              <a:t>Nossas</a:t>
            </a:r>
            <a:endParaRPr lang="pt-BR" sz="4875" b="1" dirty="0">
              <a:solidFill>
                <a:schemeClr val="bg2">
                  <a:lumMod val="25000"/>
                </a:schemeClr>
              </a:solidFill>
              <a:latin typeface="Exo 2.0" panose="00000500000000000000" pitchFamily="50" charset="0"/>
            </a:endParaRPr>
          </a:p>
        </p:txBody>
      </p:sp>
      <p:grpSp>
        <p:nvGrpSpPr>
          <p:cNvPr id="13" name="Google Shape;265;p28">
            <a:extLst>
              <a:ext uri="{FF2B5EF4-FFF2-40B4-BE49-F238E27FC236}">
                <a16:creationId xmlns:a16="http://schemas.microsoft.com/office/drawing/2014/main" id="{822A888C-322A-C5FE-AD88-ABA61260C396}"/>
              </a:ext>
            </a:extLst>
          </p:cNvPr>
          <p:cNvGrpSpPr/>
          <p:nvPr/>
        </p:nvGrpSpPr>
        <p:grpSpPr>
          <a:xfrm>
            <a:off x="329422" y="2364230"/>
            <a:ext cx="6210977" cy="1384500"/>
            <a:chOff x="436100" y="2255979"/>
            <a:chExt cx="6210977" cy="1384500"/>
          </a:xfrm>
        </p:grpSpPr>
        <p:cxnSp>
          <p:nvCxnSpPr>
            <p:cNvPr id="14" name="Google Shape;266;p28">
              <a:extLst>
                <a:ext uri="{FF2B5EF4-FFF2-40B4-BE49-F238E27FC236}">
                  <a16:creationId xmlns:a16="http://schemas.microsoft.com/office/drawing/2014/main" id="{756AED1F-1E8F-FA11-0B65-BD097441DF38}"/>
                </a:ext>
              </a:extLst>
            </p:cNvPr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" name="Google Shape;267;p28">
              <a:extLst>
                <a:ext uri="{FF2B5EF4-FFF2-40B4-BE49-F238E27FC236}">
                  <a16:creationId xmlns:a16="http://schemas.microsoft.com/office/drawing/2014/main" id="{1644FD6D-E4D7-F579-C463-89739451521B}"/>
                </a:ext>
              </a:extLst>
            </p:cNvPr>
            <p:cNvSpPr txBox="1"/>
            <p:nvPr/>
          </p:nvSpPr>
          <p:spPr>
            <a:xfrm>
              <a:off x="436100" y="2255979"/>
              <a:ext cx="2260192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sz="1200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Gestão ativa pode gerar retornos superiores no longo prazo</a:t>
              </a:r>
            </a:p>
            <a:p>
              <a:endParaRPr lang="pt-BR" sz="5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Os ativos por vezes não estão precificados ao redor do valor justo,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gerando oportunidades 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para obtenção de retornos superiores por profissionais qualificados.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Buscamos incessantemente estas assimetrias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nos diversos mercados em que atuamos.</a:t>
              </a:r>
              <a:endParaRPr sz="675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17" name="Google Shape;268;p28">
              <a:extLst>
                <a:ext uri="{FF2B5EF4-FFF2-40B4-BE49-F238E27FC236}">
                  <a16:creationId xmlns:a16="http://schemas.microsoft.com/office/drawing/2014/main" id="{F9EAE867-5D57-0113-1D37-27FE699599BC}"/>
                </a:ext>
              </a:extLst>
            </p:cNvPr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1" name="Google Shape;269;p28">
              <a:extLst>
                <a:ext uri="{FF2B5EF4-FFF2-40B4-BE49-F238E27FC236}">
                  <a16:creationId xmlns:a16="http://schemas.microsoft.com/office/drawing/2014/main" id="{379C0050-CF4B-25EE-EAB3-59E33BA037AE}"/>
                </a:ext>
              </a:extLst>
            </p:cNvPr>
            <p:cNvSpPr txBox="1"/>
            <p:nvPr/>
          </p:nvSpPr>
          <p:spPr>
            <a:xfrm>
              <a:off x="6399577" y="3161902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spcAft>
                  <a:spcPts val="1600"/>
                </a:spcAft>
              </a:pPr>
              <a:r>
                <a:rPr lang="en" sz="800" b="1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3</a:t>
              </a:r>
              <a:endParaRPr sz="8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22" name="Google Shape;270;p28">
            <a:extLst>
              <a:ext uri="{FF2B5EF4-FFF2-40B4-BE49-F238E27FC236}">
                <a16:creationId xmlns:a16="http://schemas.microsoft.com/office/drawing/2014/main" id="{6A1BE13B-A62C-127D-D151-CEF264F31FEB}"/>
              </a:ext>
            </a:extLst>
          </p:cNvPr>
          <p:cNvGrpSpPr/>
          <p:nvPr/>
        </p:nvGrpSpPr>
        <p:grpSpPr>
          <a:xfrm>
            <a:off x="4801420" y="1043768"/>
            <a:ext cx="4220660" cy="1384500"/>
            <a:chOff x="4908100" y="900207"/>
            <a:chExt cx="4220660" cy="1384500"/>
          </a:xfrm>
        </p:grpSpPr>
        <p:cxnSp>
          <p:nvCxnSpPr>
            <p:cNvPr id="23" name="Google Shape;271;p28">
              <a:extLst>
                <a:ext uri="{FF2B5EF4-FFF2-40B4-BE49-F238E27FC236}">
                  <a16:creationId xmlns:a16="http://schemas.microsoft.com/office/drawing/2014/main" id="{37021298-113B-F33C-C7E6-84B436BA5B7A}"/>
                </a:ext>
              </a:extLst>
            </p:cNvPr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w="9525" cap="flat" cmpd="sng">
              <a:solidFill>
                <a:srgbClr val="383E1A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" name="Google Shape;272;p28">
              <a:extLst>
                <a:ext uri="{FF2B5EF4-FFF2-40B4-BE49-F238E27FC236}">
                  <a16:creationId xmlns:a16="http://schemas.microsoft.com/office/drawing/2014/main" id="{1D9C4DE8-B48C-0622-4372-457C612A75B4}"/>
                </a:ext>
              </a:extLst>
            </p:cNvPr>
            <p:cNvSpPr txBox="1"/>
            <p:nvPr/>
          </p:nvSpPr>
          <p:spPr>
            <a:xfrm>
              <a:off x="6826180" y="900207"/>
              <a:ext cx="230258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sz="1200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Gerenciar riscos é fundamental</a:t>
              </a:r>
            </a:p>
            <a:p>
              <a:endParaRPr sz="5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>
                <a:spcAft>
                  <a:spcPts val="1600"/>
                </a:spcAft>
              </a:pP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Entender as características de risco 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das diferentes classes de ativos é necessário para que possamos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atingir os objetivos 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de retorno dos fundos que gerimos. Identificamos e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mensuramos os riscos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, aceitando apenas aqueles que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não podem ser diversificados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e que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remunerem os investidores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de forma adequada.</a:t>
              </a:r>
              <a:endParaRPr sz="675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sp>
          <p:nvSpPr>
            <p:cNvPr id="25" name="Google Shape;273;p28">
              <a:extLst>
                <a:ext uri="{FF2B5EF4-FFF2-40B4-BE49-F238E27FC236}">
                  <a16:creationId xmlns:a16="http://schemas.microsoft.com/office/drawing/2014/main" id="{340F4C20-A1EE-4FE1-524C-A1E1F3D07E32}"/>
                </a:ext>
              </a:extLst>
            </p:cNvPr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383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26" name="Google Shape;274;p28">
              <a:extLst>
                <a:ext uri="{FF2B5EF4-FFF2-40B4-BE49-F238E27FC236}">
                  <a16:creationId xmlns:a16="http://schemas.microsoft.com/office/drawing/2014/main" id="{7798F224-7642-3554-8233-94E3D83DD7A0}"/>
                </a:ext>
              </a:extLst>
            </p:cNvPr>
            <p:cNvSpPr txBox="1"/>
            <p:nvPr/>
          </p:nvSpPr>
          <p:spPr>
            <a:xfrm>
              <a:off x="6407655" y="1439304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spcAft>
                  <a:spcPts val="1600"/>
                </a:spcAft>
              </a:pPr>
              <a:r>
                <a:rPr lang="en" sz="800" b="1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1</a:t>
              </a:r>
              <a:endParaRPr sz="8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grpSp>
        <p:nvGrpSpPr>
          <p:cNvPr id="27" name="Google Shape;275;p28">
            <a:extLst>
              <a:ext uri="{FF2B5EF4-FFF2-40B4-BE49-F238E27FC236}">
                <a16:creationId xmlns:a16="http://schemas.microsoft.com/office/drawing/2014/main" id="{0350DF43-10A4-3B57-5B61-20A25367A6A5}"/>
              </a:ext>
            </a:extLst>
          </p:cNvPr>
          <p:cNvGrpSpPr/>
          <p:nvPr/>
        </p:nvGrpSpPr>
        <p:grpSpPr>
          <a:xfrm>
            <a:off x="2707916" y="1241718"/>
            <a:ext cx="3514811" cy="3252002"/>
            <a:chOff x="2991269" y="1153325"/>
            <a:chExt cx="3514811" cy="3252002"/>
          </a:xfrm>
        </p:grpSpPr>
        <p:sp>
          <p:nvSpPr>
            <p:cNvPr id="28" name="Google Shape;276;p28">
              <a:extLst>
                <a:ext uri="{FF2B5EF4-FFF2-40B4-BE49-F238E27FC236}">
                  <a16:creationId xmlns:a16="http://schemas.microsoft.com/office/drawing/2014/main" id="{8E391642-2B16-C391-9BB2-FDD55D1E1AC4}"/>
                </a:ext>
              </a:extLst>
            </p:cNvPr>
            <p:cNvSpPr/>
            <p:nvPr/>
          </p:nvSpPr>
          <p:spPr>
            <a:xfrm>
              <a:off x="3477586" y="2585458"/>
              <a:ext cx="2541910" cy="950456"/>
            </a:xfrm>
            <a:custGeom>
              <a:avLst/>
              <a:gdLst/>
              <a:ahLst/>
              <a:cxnLst/>
              <a:rect l="l" t="t" r="r" b="b"/>
              <a:pathLst>
                <a:path w="126826" h="43529" extrusionOk="0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29" name="Google Shape;277;p28">
              <a:extLst>
                <a:ext uri="{FF2B5EF4-FFF2-40B4-BE49-F238E27FC236}">
                  <a16:creationId xmlns:a16="http://schemas.microsoft.com/office/drawing/2014/main" id="{EE13B2DE-B8FF-55C6-AC44-F87625951B77}"/>
                </a:ext>
              </a:extLst>
            </p:cNvPr>
            <p:cNvSpPr/>
            <p:nvPr/>
          </p:nvSpPr>
          <p:spPr>
            <a:xfrm>
              <a:off x="2991269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0" name="Google Shape;278;p28">
              <a:extLst>
                <a:ext uri="{FF2B5EF4-FFF2-40B4-BE49-F238E27FC236}">
                  <a16:creationId xmlns:a16="http://schemas.microsoft.com/office/drawing/2014/main" id="{764B5ECF-C1D1-31C7-A6EF-6E1FBDE98BA8}"/>
                </a:ext>
              </a:extLst>
            </p:cNvPr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1" name="Google Shape;279;p28">
              <a:extLst>
                <a:ext uri="{FF2B5EF4-FFF2-40B4-BE49-F238E27FC236}">
                  <a16:creationId xmlns:a16="http://schemas.microsoft.com/office/drawing/2014/main" id="{E2D7AC84-91DE-83E3-A8A5-FB092AFE6BC3}"/>
                </a:ext>
              </a:extLst>
            </p:cNvPr>
            <p:cNvSpPr/>
            <p:nvPr/>
          </p:nvSpPr>
          <p:spPr>
            <a:xfrm>
              <a:off x="3969199" y="2001324"/>
              <a:ext cx="1565850" cy="585863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3" name="Google Shape;280;p28">
              <a:extLst>
                <a:ext uri="{FF2B5EF4-FFF2-40B4-BE49-F238E27FC236}">
                  <a16:creationId xmlns:a16="http://schemas.microsoft.com/office/drawing/2014/main" id="{DE692C50-71D4-76F2-4A80-D1F14E17B3BA}"/>
                </a:ext>
              </a:extLst>
            </p:cNvPr>
            <p:cNvSpPr/>
            <p:nvPr/>
          </p:nvSpPr>
          <p:spPr>
            <a:xfrm>
              <a:off x="356325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4" name="Google Shape;281;p28">
              <a:extLst>
                <a:ext uri="{FF2B5EF4-FFF2-40B4-BE49-F238E27FC236}">
                  <a16:creationId xmlns:a16="http://schemas.microsoft.com/office/drawing/2014/main" id="{FEE6AB05-FA93-2ABA-DE01-BAB5E6046F28}"/>
                </a:ext>
              </a:extLst>
            </p:cNvPr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/>
            <a:lstStyle/>
            <a:p>
              <a:endParaRPr lang="pt-BR" sz="675"/>
            </a:p>
          </p:txBody>
        </p:sp>
        <p:sp>
          <p:nvSpPr>
            <p:cNvPr id="35" name="Google Shape;282;p28">
              <a:extLst>
                <a:ext uri="{FF2B5EF4-FFF2-40B4-BE49-F238E27FC236}">
                  <a16:creationId xmlns:a16="http://schemas.microsoft.com/office/drawing/2014/main" id="{8EE97142-0033-87CF-5044-5468E9FA4471}"/>
                </a:ext>
              </a:extLst>
            </p:cNvPr>
            <p:cNvSpPr/>
            <p:nvPr/>
          </p:nvSpPr>
          <p:spPr>
            <a:xfrm>
              <a:off x="4059061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/>
            <a:lstStyle/>
            <a:p>
              <a:endParaRPr lang="pt-BR" sz="1800"/>
            </a:p>
          </p:txBody>
        </p:sp>
        <p:sp>
          <p:nvSpPr>
            <p:cNvPr id="36" name="Google Shape;283;p28">
              <a:extLst>
                <a:ext uri="{FF2B5EF4-FFF2-40B4-BE49-F238E27FC236}">
                  <a16:creationId xmlns:a16="http://schemas.microsoft.com/office/drawing/2014/main" id="{E24C9263-26D3-8AEE-4D05-E7C276F187C4}"/>
                </a:ext>
              </a:extLst>
            </p:cNvPr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/>
            <a:lstStyle/>
            <a:p>
              <a:endParaRPr lang="pt-BR" sz="1800"/>
            </a:p>
          </p:txBody>
        </p:sp>
      </p:grpSp>
      <p:grpSp>
        <p:nvGrpSpPr>
          <p:cNvPr id="37" name="Google Shape;284;p28">
            <a:extLst>
              <a:ext uri="{FF2B5EF4-FFF2-40B4-BE49-F238E27FC236}">
                <a16:creationId xmlns:a16="http://schemas.microsoft.com/office/drawing/2014/main" id="{25851CCB-F3EB-435F-6BCA-C3CDC2AAB0AD}"/>
              </a:ext>
            </a:extLst>
          </p:cNvPr>
          <p:cNvGrpSpPr/>
          <p:nvPr/>
        </p:nvGrpSpPr>
        <p:grpSpPr>
          <a:xfrm>
            <a:off x="2518837" y="2497660"/>
            <a:ext cx="6210209" cy="1818898"/>
            <a:chOff x="2621281" y="2571664"/>
            <a:chExt cx="6210211" cy="1818895"/>
          </a:xfrm>
        </p:grpSpPr>
        <p:sp>
          <p:nvSpPr>
            <p:cNvPr id="38" name="Google Shape;285;p28">
              <a:extLst>
                <a:ext uri="{FF2B5EF4-FFF2-40B4-BE49-F238E27FC236}">
                  <a16:creationId xmlns:a16="http://schemas.microsoft.com/office/drawing/2014/main" id="{8E169DCF-8B88-083C-B63F-54781AA7129B}"/>
                </a:ext>
              </a:extLst>
            </p:cNvPr>
            <p:cNvSpPr txBox="1"/>
            <p:nvPr/>
          </p:nvSpPr>
          <p:spPr>
            <a:xfrm>
              <a:off x="6821945" y="3006059"/>
              <a:ext cx="2009547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pt-BR" sz="1200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Enfatizamos a consistência dos resultados</a:t>
              </a:r>
            </a:p>
            <a:p>
              <a:endParaRPr sz="5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  <a:p>
              <a:pPr>
                <a:spcAft>
                  <a:spcPts val="1600"/>
                </a:spcAft>
              </a:pP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Construímos portfólios que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buscam performar em diferentes ambientes de mercado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, suportados por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robustas análises macroeconômicas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e fundamentalistas. Integramos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aspectos ambientais, sociais e de governança (ESG)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no processo de investimentos, contribuindo com </a:t>
              </a:r>
              <a:r>
                <a:rPr lang="pt-BR" sz="675" b="1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resultados sólidos</a:t>
              </a:r>
              <a:r>
                <a:rPr lang="pt-BR" sz="675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no longo prazo.</a:t>
              </a:r>
              <a:endParaRPr sz="675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  <p:cxnSp>
          <p:nvCxnSpPr>
            <p:cNvPr id="39" name="Google Shape;286;p28">
              <a:extLst>
                <a:ext uri="{FF2B5EF4-FFF2-40B4-BE49-F238E27FC236}">
                  <a16:creationId xmlns:a16="http://schemas.microsoft.com/office/drawing/2014/main" id="{BEFCE9BF-448D-1A72-105B-F80EE04B14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2052" y="2727570"/>
              <a:ext cx="1824555" cy="0"/>
            </a:xfrm>
            <a:prstGeom prst="straightConnector1">
              <a:avLst/>
            </a:prstGeom>
            <a:noFill/>
            <a:ln w="9525" cap="flat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0" name="Google Shape;287;p28">
              <a:extLst>
                <a:ext uri="{FF2B5EF4-FFF2-40B4-BE49-F238E27FC236}">
                  <a16:creationId xmlns:a16="http://schemas.microsoft.com/office/drawing/2014/main" id="{BDFD16DA-071D-8F8B-B0C4-BE0F7E20188E}"/>
                </a:ext>
              </a:extLst>
            </p:cNvPr>
            <p:cNvSpPr/>
            <p:nvPr/>
          </p:nvSpPr>
          <p:spPr>
            <a:xfrm>
              <a:off x="2637804" y="2626988"/>
              <a:ext cx="198600" cy="1983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sz="1800"/>
            </a:p>
          </p:txBody>
        </p:sp>
        <p:sp>
          <p:nvSpPr>
            <p:cNvPr id="43" name="Google Shape;288;p28">
              <a:extLst>
                <a:ext uri="{FF2B5EF4-FFF2-40B4-BE49-F238E27FC236}">
                  <a16:creationId xmlns:a16="http://schemas.microsoft.com/office/drawing/2014/main" id="{DF124B9E-48BE-E9F4-2441-B1E3868236D3}"/>
                </a:ext>
              </a:extLst>
            </p:cNvPr>
            <p:cNvSpPr txBox="1"/>
            <p:nvPr/>
          </p:nvSpPr>
          <p:spPr>
            <a:xfrm>
              <a:off x="2621281" y="2571664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>
                <a:spcAft>
                  <a:spcPts val="1600"/>
                </a:spcAft>
              </a:pPr>
              <a:r>
                <a:rPr lang="en" sz="800" b="1">
                  <a:solidFill>
                    <a:schemeClr val="lt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2</a:t>
              </a:r>
              <a:endParaRPr sz="8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endParaRPr>
            </a:p>
          </p:txBody>
        </p:sp>
      </p:grpSp>
      <p:sp>
        <p:nvSpPr>
          <p:cNvPr id="4" name="Sinal de Subtração 3">
            <a:extLst>
              <a:ext uri="{FF2B5EF4-FFF2-40B4-BE49-F238E27FC236}">
                <a16:creationId xmlns:a16="http://schemas.microsoft.com/office/drawing/2014/main" id="{D44F9D17-F2DC-4949-B971-D8192563519B}"/>
              </a:ext>
            </a:extLst>
          </p:cNvPr>
          <p:cNvSpPr/>
          <p:nvPr/>
        </p:nvSpPr>
        <p:spPr>
          <a:xfrm>
            <a:off x="441529" y="1619352"/>
            <a:ext cx="475607" cy="299919"/>
          </a:xfrm>
          <a:prstGeom prst="mathMinus">
            <a:avLst/>
          </a:prstGeom>
          <a:solidFill>
            <a:srgbClr val="3FA1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pt-BR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Object3">
            <a:extLst>
              <a:ext uri="{FF2B5EF4-FFF2-40B4-BE49-F238E27FC236}">
                <a16:creationId xmlns:a16="http://schemas.microsoft.com/office/drawing/2014/main" id="{6F0192EE-0D75-E435-87B3-065043F99315}"/>
              </a:ext>
            </a:extLst>
          </p:cNvPr>
          <p:cNvSpPr/>
          <p:nvPr/>
        </p:nvSpPr>
        <p:spPr>
          <a:xfrm>
            <a:off x="470254" y="1269621"/>
            <a:ext cx="1593497" cy="42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89">
              <a:lnSpc>
                <a:spcPts val="3375"/>
              </a:lnSpc>
            </a:pPr>
            <a:r>
              <a:rPr lang="pt-BR" sz="2250" b="1" dirty="0">
                <a:solidFill>
                  <a:schemeClr val="bg2">
                    <a:lumMod val="25000"/>
                  </a:schemeClr>
                </a:solidFill>
                <a:latin typeface="Exo 2.0" panose="00000500000000000000" pitchFamily="50" charset="0"/>
                <a:ea typeface="Exo 2 ExtraLight Italic" pitchFamily="34" charset="-122"/>
              </a:rPr>
              <a:t>ao investir</a:t>
            </a:r>
            <a:endParaRPr lang="pt-BR" sz="4875" b="1" dirty="0">
              <a:solidFill>
                <a:schemeClr val="bg2">
                  <a:lumMod val="25000"/>
                </a:schemeClr>
              </a:solidFill>
              <a:latin typeface="Exo 2.0" panose="00000500000000000000" pitchFamily="50" charset="0"/>
            </a:endParaRPr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4B9464B6-4A9B-BFDB-95ED-3B5DE02E7E7D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D2316111-8BA9-07F1-60A2-6E57017E146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A10D357-C874-8EAD-3360-A21E2B98D50B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2D5067F8-DA53-1B37-28B1-B3D2B1FDCB35}"/>
              </a:ext>
            </a:extLst>
          </p:cNvPr>
          <p:cNvSpPr/>
          <p:nvPr/>
        </p:nvSpPr>
        <p:spPr>
          <a:xfrm>
            <a:off x="7437758" y="4820420"/>
            <a:ext cx="156600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055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7">
            <a:extLst>
              <a:ext uri="{FF2B5EF4-FFF2-40B4-BE49-F238E27FC236}">
                <a16:creationId xmlns:a16="http://schemas.microsoft.com/office/drawing/2014/main" id="{690531E6-81BA-38DC-4B53-EB57AEFCEADD}"/>
              </a:ext>
            </a:extLst>
          </p:cNvPr>
          <p:cNvSpPr/>
          <p:nvPr/>
        </p:nvSpPr>
        <p:spPr>
          <a:xfrm>
            <a:off x="421308" y="480632"/>
            <a:ext cx="816490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endParaRPr lang="pt-BR" sz="2100">
              <a:solidFill>
                <a:srgbClr val="323C32"/>
              </a:solidFill>
              <a:latin typeface="Exo 2 Light Italic" pitchFamily="34" charset="0"/>
              <a:ea typeface="Exo 2 Light Italic" pitchFamily="34" charset="-122"/>
              <a:cs typeface="Exo 2 Light Italic" pitchFamily="34" charset="-120"/>
            </a:endParaRPr>
          </a:p>
        </p:txBody>
      </p:sp>
      <p:graphicFrame>
        <p:nvGraphicFramePr>
          <p:cNvPr id="3" name="Diagrama 8">
            <a:extLst>
              <a:ext uri="{FF2B5EF4-FFF2-40B4-BE49-F238E27FC236}">
                <a16:creationId xmlns:a16="http://schemas.microsoft.com/office/drawing/2014/main" id="{5037624B-0670-2EF8-8DD8-0FA03C787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418849"/>
              </p:ext>
            </p:extLst>
          </p:nvPr>
        </p:nvGraphicFramePr>
        <p:xfrm>
          <a:off x="1981202" y="938098"/>
          <a:ext cx="5181597" cy="345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Object7">
            <a:extLst>
              <a:ext uri="{FF2B5EF4-FFF2-40B4-BE49-F238E27FC236}">
                <a16:creationId xmlns:a16="http://schemas.microsoft.com/office/drawing/2014/main" id="{B15E097F-C69A-3035-6DEB-B8D17017C4CF}"/>
              </a:ext>
            </a:extLst>
          </p:cNvPr>
          <p:cNvSpPr/>
          <p:nvPr/>
        </p:nvSpPr>
        <p:spPr>
          <a:xfrm>
            <a:off x="421308" y="480632"/>
            <a:ext cx="816490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Processo de Investimentos</a:t>
            </a:r>
          </a:p>
        </p:txBody>
      </p:sp>
      <p:pic>
        <p:nvPicPr>
          <p:cNvPr id="24" name="Object 4" descr="preencoded.png">
            <a:extLst>
              <a:ext uri="{FF2B5EF4-FFF2-40B4-BE49-F238E27FC236}">
                <a16:creationId xmlns:a16="http://schemas.microsoft.com/office/drawing/2014/main" id="{9EA7DE38-CBB3-FCA2-F2D2-ECC15A82C0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85750" y="362331"/>
            <a:ext cx="381000" cy="381000"/>
          </a:xfrm>
          <a:prstGeom prst="rect">
            <a:avLst/>
          </a:prstGeom>
        </p:spPr>
      </p:pic>
      <p:graphicFrame>
        <p:nvGraphicFramePr>
          <p:cNvPr id="25" name="Diagrama 3">
            <a:extLst>
              <a:ext uri="{FF2B5EF4-FFF2-40B4-BE49-F238E27FC236}">
                <a16:creationId xmlns:a16="http://schemas.microsoft.com/office/drawing/2014/main" id="{58E59566-9913-1769-FB66-E28EBE5A4E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877754"/>
              </p:ext>
            </p:extLst>
          </p:nvPr>
        </p:nvGraphicFramePr>
        <p:xfrm>
          <a:off x="6441793" y="3552059"/>
          <a:ext cx="2280900" cy="950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75A97C78-ECB2-EC69-F3A8-6983426BC7E9}"/>
              </a:ext>
            </a:extLst>
          </p:cNvPr>
          <p:cNvGrpSpPr/>
          <p:nvPr/>
        </p:nvGrpSpPr>
        <p:grpSpPr>
          <a:xfrm>
            <a:off x="6190631" y="3928653"/>
            <a:ext cx="168547" cy="197169"/>
            <a:chOff x="1749823" y="753188"/>
            <a:chExt cx="337094" cy="394337"/>
          </a:xfrm>
        </p:grpSpPr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4F15BE4B-1BD8-779E-A198-49ED27E44B32}"/>
                </a:ext>
              </a:extLst>
            </p:cNvPr>
            <p:cNvSpPr/>
            <p:nvPr/>
          </p:nvSpPr>
          <p:spPr>
            <a:xfrm>
              <a:off x="1749823" y="753188"/>
              <a:ext cx="337094" cy="394337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3">
                <a:shade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shade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shade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pt-BR" sz="675"/>
            </a:p>
          </p:txBody>
        </p:sp>
        <p:sp>
          <p:nvSpPr>
            <p:cNvPr id="31" name="Arrow: Right 4">
              <a:extLst>
                <a:ext uri="{FF2B5EF4-FFF2-40B4-BE49-F238E27FC236}">
                  <a16:creationId xmlns:a16="http://schemas.microsoft.com/office/drawing/2014/main" id="{C65DC7EC-7864-04E4-DF27-DC32D3135524}"/>
                </a:ext>
              </a:extLst>
            </p:cNvPr>
            <p:cNvSpPr txBox="1"/>
            <p:nvPr/>
          </p:nvSpPr>
          <p:spPr>
            <a:xfrm>
              <a:off x="1749823" y="832055"/>
              <a:ext cx="235966" cy="2366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23336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pt-BR" sz="525" i="1">
                <a:solidFill>
                  <a:schemeClr val="tx2">
                    <a:lumMod val="50000"/>
                  </a:schemeClr>
                </a:solidFill>
                <a:latin typeface="Exo 2.0" panose="00000500000000000000" pitchFamily="50" charset="0"/>
              </a:endParaRPr>
            </a:p>
          </p:txBody>
        </p:sp>
      </p:grpSp>
      <p:sp>
        <p:nvSpPr>
          <p:cNvPr id="6" name="Rectangle 13">
            <a:extLst>
              <a:ext uri="{FF2B5EF4-FFF2-40B4-BE49-F238E27FC236}">
                <a16:creationId xmlns:a16="http://schemas.microsoft.com/office/drawing/2014/main" id="{4118C67F-6B9C-8106-8D2F-B9A030C15991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B2461168-B472-5A51-808B-F0C59F58F866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37550DAA-1C11-88FA-AF84-E150DEC7309D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5FEEBDD1-DD9F-E05B-0088-F76072F07C2F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094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89E39E0-21DD-4CCD-A2D2-A7E69E6CF76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F89E39E0-21DD-4CCD-A2D2-A7E69E6CF76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BD9B570-40AD-4FF0-907E-C5C0E55FBB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BBD9B570-40AD-4FF0-907E-C5C0E55FBB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D379F12-A51A-4838-8031-55CDE6F3C1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6D379F12-A51A-4838-8031-55CDE6F3C1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7D0BE3E-73F8-4C5E-A6E6-EDD799A9EF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17D0BE3E-73F8-4C5E-A6E6-EDD799A9EFE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CE3189-8C3D-4EAC-8AB1-1BE4E58E9A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graphicEl>
                                              <a:dgm id="{10CE3189-8C3D-4EAC-8AB1-1BE4E58E9A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4AEBB5A-4263-42C5-AEE1-B5E00520BB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graphicEl>
                                              <a:dgm id="{74AEBB5A-4263-42C5-AEE1-B5E00520BB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  <p:bldGraphic spid="2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8125" y="404813"/>
            <a:ext cx="381000" cy="381000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476250" y="566739"/>
            <a:ext cx="77658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1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Comitês</a:t>
            </a:r>
            <a:endParaRPr lang="en-US" sz="2100" b="1" i="1" dirty="0">
              <a:solidFill>
                <a:srgbClr val="0A4B1E"/>
              </a:solidFill>
              <a:latin typeface="Exo 2.0" panose="00000500000000000000" pitchFamily="50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253859-39F1-4149-8909-8E7E4EBA9222}"/>
              </a:ext>
            </a:extLst>
          </p:cNvPr>
          <p:cNvSpPr/>
          <p:nvPr/>
        </p:nvSpPr>
        <p:spPr>
          <a:xfrm>
            <a:off x="2020811" y="968883"/>
            <a:ext cx="100611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800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9096481E-CDBE-4332-AAC3-C7ABFBA30EFB}"/>
              </a:ext>
            </a:extLst>
          </p:cNvPr>
          <p:cNvSpPr/>
          <p:nvPr/>
        </p:nvSpPr>
        <p:spPr>
          <a:xfrm>
            <a:off x="4676405" y="1551678"/>
            <a:ext cx="1984329" cy="3087699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O Comitê de Crédito Privado concede os limites que podem ser operados em cada emissor.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Prazo Máximo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Volume Máximo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Concentração Máxima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4E73C8EF-1DC9-499B-83C0-006E86E73D51}"/>
              </a:ext>
            </a:extLst>
          </p:cNvPr>
          <p:cNvSpPr/>
          <p:nvPr/>
        </p:nvSpPr>
        <p:spPr>
          <a:xfrm>
            <a:off x="2441168" y="1551678"/>
            <a:ext cx="1984329" cy="3087699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O Comitê de Riscos e Compliance define os limites de risco VaR e Stress dos fundos e carteiras.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Desenquadramentos de risco de MTM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Desenquadramentos de regulamento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15583A3F-C33B-499A-A87D-1F0C86200208}"/>
              </a:ext>
            </a:extLst>
          </p:cNvPr>
          <p:cNvSpPr/>
          <p:nvPr/>
        </p:nvSpPr>
        <p:spPr>
          <a:xfrm>
            <a:off x="2443132" y="959478"/>
            <a:ext cx="1982365" cy="535752"/>
          </a:xfrm>
          <a:prstGeom prst="rect">
            <a:avLst/>
          </a:prstGeom>
          <a:solidFill>
            <a:srgbClr val="64C832">
              <a:lumMod val="60000"/>
              <a:lumOff val="40000"/>
            </a:srgbClr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64C832">
                  <a:lumMod val="60000"/>
                  <a:lumOff val="40000"/>
                </a:srgbClr>
              </a:solidFill>
              <a:latin typeface="Nunito Light" pitchFamily="2" charset="0"/>
            </a:endParaRP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76B2ADF0-1300-4EC2-A58D-4332462733D0}"/>
              </a:ext>
            </a:extLst>
          </p:cNvPr>
          <p:cNvSpPr/>
          <p:nvPr/>
        </p:nvSpPr>
        <p:spPr>
          <a:xfrm>
            <a:off x="4657355" y="959479"/>
            <a:ext cx="2003379" cy="535751"/>
          </a:xfrm>
          <a:prstGeom prst="rect">
            <a:avLst/>
          </a:prstGeom>
          <a:solidFill>
            <a:srgbClr val="64C832">
              <a:lumMod val="60000"/>
              <a:lumOff val="40000"/>
            </a:srgbClr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64C832">
                  <a:lumMod val="60000"/>
                  <a:lumOff val="40000"/>
                </a:srgbClr>
              </a:solidFill>
              <a:latin typeface="Nunito Light" pitchFamily="2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E5D9B89-7F2B-4379-93A6-D2FCAAE1B451}"/>
              </a:ext>
            </a:extLst>
          </p:cNvPr>
          <p:cNvSpPr txBox="1"/>
          <p:nvPr/>
        </p:nvSpPr>
        <p:spPr>
          <a:xfrm>
            <a:off x="3083181" y="1019057"/>
            <a:ext cx="1624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FFFFFF"/>
                </a:solidFill>
                <a:latin typeface="Nunito Black" pitchFamily="2" charset="0"/>
              </a:rPr>
              <a:t>RISCOS E</a:t>
            </a:r>
            <a:br>
              <a:rPr lang="pt-BR" sz="1200" dirty="0">
                <a:solidFill>
                  <a:srgbClr val="FFFFFF"/>
                </a:solidFill>
                <a:latin typeface="Nunito Black" pitchFamily="2" charset="0"/>
              </a:rPr>
            </a:br>
            <a:r>
              <a:rPr lang="pt-BR" sz="1200" dirty="0">
                <a:solidFill>
                  <a:srgbClr val="FFFFFF"/>
                </a:solidFill>
                <a:latin typeface="Nunito Black" pitchFamily="2" charset="0"/>
              </a:rPr>
              <a:t>COMPLIANCE</a:t>
            </a: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3F8BD90D-2561-4C48-81CE-DD4CB5A46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5427" y="833153"/>
            <a:ext cx="646513" cy="783660"/>
          </a:xfrm>
          <a:prstGeom prst="rect">
            <a:avLst/>
          </a:prstGeom>
        </p:spPr>
      </p:pic>
      <p:sp>
        <p:nvSpPr>
          <p:cNvPr id="66" name="Retângulo 65">
            <a:extLst>
              <a:ext uri="{FF2B5EF4-FFF2-40B4-BE49-F238E27FC236}">
                <a16:creationId xmlns:a16="http://schemas.microsoft.com/office/drawing/2014/main" id="{9284CFAE-12AC-4341-9E15-981ADEAE11F4}"/>
              </a:ext>
            </a:extLst>
          </p:cNvPr>
          <p:cNvSpPr/>
          <p:nvPr/>
        </p:nvSpPr>
        <p:spPr>
          <a:xfrm>
            <a:off x="234962" y="969983"/>
            <a:ext cx="1984329" cy="535750"/>
          </a:xfrm>
          <a:prstGeom prst="rect">
            <a:avLst/>
          </a:prstGeom>
          <a:solidFill>
            <a:srgbClr val="64C832">
              <a:lumMod val="60000"/>
              <a:lumOff val="4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64C832">
                  <a:lumMod val="60000"/>
                  <a:lumOff val="40000"/>
                </a:srgbClr>
              </a:solidFill>
              <a:latin typeface="Nunito Light" pitchFamily="2" charset="0"/>
            </a:endParaRP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FF6D8A29-0BBD-4B65-8649-723C446BDEFC}"/>
              </a:ext>
            </a:extLst>
          </p:cNvPr>
          <p:cNvSpPr/>
          <p:nvPr/>
        </p:nvSpPr>
        <p:spPr>
          <a:xfrm>
            <a:off x="227124" y="1537689"/>
            <a:ext cx="1984328" cy="3101687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O Comitê de Gestão ratifica as tomadas de decisão realizadas pela gestora no último mês e define as diretrizes de alocação para o mês seguinte.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Targets e Stops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4184ED1-F3E2-D9A6-C732-D3E9EF07E647}"/>
              </a:ext>
            </a:extLst>
          </p:cNvPr>
          <p:cNvSpPr txBox="1"/>
          <p:nvPr/>
        </p:nvSpPr>
        <p:spPr>
          <a:xfrm>
            <a:off x="965432" y="1029333"/>
            <a:ext cx="1387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dirty="0">
                <a:solidFill>
                  <a:srgbClr val="FFFFFF"/>
                </a:solidFill>
                <a:latin typeface="Nunito Black" pitchFamily="2" charset="0"/>
              </a:rPr>
              <a:t>GESTÃO DE</a:t>
            </a:r>
          </a:p>
          <a:p>
            <a:pPr>
              <a:defRPr/>
            </a:pPr>
            <a:r>
              <a:rPr lang="pt-BR" sz="1200" dirty="0">
                <a:solidFill>
                  <a:srgbClr val="FFFFFF"/>
                </a:solidFill>
                <a:latin typeface="Nunito Black" pitchFamily="2" charset="0"/>
              </a:rPr>
              <a:t>RECURSOS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3404D2-8976-D22C-9500-4EE1B917C4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78" y="876287"/>
            <a:ext cx="764207" cy="72978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7CB94971-9748-0B67-1355-3664DA581F59}"/>
              </a:ext>
            </a:extLst>
          </p:cNvPr>
          <p:cNvSpPr txBox="1"/>
          <p:nvPr/>
        </p:nvSpPr>
        <p:spPr>
          <a:xfrm>
            <a:off x="5471245" y="1026153"/>
            <a:ext cx="111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b="1" dirty="0">
                <a:solidFill>
                  <a:srgbClr val="FFFFFF"/>
                </a:solidFill>
                <a:latin typeface="Nunito Black" pitchFamily="2" charset="0"/>
              </a:rPr>
              <a:t>CRÉDITO</a:t>
            </a:r>
            <a:br>
              <a:rPr lang="pt-BR" sz="1200" b="1" dirty="0">
                <a:solidFill>
                  <a:srgbClr val="FFFFFF"/>
                </a:solidFill>
                <a:latin typeface="Nunito Black" pitchFamily="2" charset="0"/>
              </a:rPr>
            </a:br>
            <a:r>
              <a:rPr lang="pt-BR" sz="1200" b="1" dirty="0">
                <a:solidFill>
                  <a:srgbClr val="FFFFFF"/>
                </a:solidFill>
                <a:latin typeface="Nunito Black" pitchFamily="2" charset="0"/>
              </a:rPr>
              <a:t>PRIVADO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C732933-E85B-ABA1-7063-D92F11AE54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547" y="847029"/>
            <a:ext cx="817262" cy="781745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9209A190-F7DA-AD48-97EC-DBFF9F2255D3}"/>
              </a:ext>
            </a:extLst>
          </p:cNvPr>
          <p:cNvSpPr/>
          <p:nvPr/>
        </p:nvSpPr>
        <p:spPr>
          <a:xfrm>
            <a:off x="6932548" y="1560087"/>
            <a:ext cx="1984329" cy="3087699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O Comitê ESG os processos internos da gestora, buscando adequá-los à estratégia de sustentabilidade do Sicredi. </a:t>
            </a:r>
          </a:p>
          <a:p>
            <a:pPr algn="just" defTabSz="914400">
              <a:defRPr/>
            </a:pPr>
            <a:endParaRPr lang="pt-BR" sz="1100" kern="0" dirty="0">
              <a:solidFill>
                <a:srgbClr val="596459">
                  <a:lumMod val="50000"/>
                </a:srgbClr>
              </a:solidFill>
              <a:latin typeface="Nunito Light" pitchFamily="2" charset="0"/>
            </a:endParaRPr>
          </a:p>
          <a:p>
            <a:pPr algn="just" defTabSz="914400">
              <a:defRPr/>
            </a:pPr>
            <a:r>
              <a:rPr lang="pt-BR" sz="1100" kern="0" dirty="0">
                <a:solidFill>
                  <a:srgbClr val="596459">
                    <a:lumMod val="50000"/>
                  </a:srgbClr>
                </a:solidFill>
                <a:latin typeface="Nunito Light" pitchFamily="2" charset="0"/>
              </a:rPr>
              <a:t>Além disso, revisamos as empresas nas quais aplicamos, com base na metodologia ESG da gestora.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E88E7E3-ADF9-BFEA-025F-535A53DF82B9}"/>
              </a:ext>
            </a:extLst>
          </p:cNvPr>
          <p:cNvSpPr/>
          <p:nvPr/>
        </p:nvSpPr>
        <p:spPr>
          <a:xfrm>
            <a:off x="6913498" y="967888"/>
            <a:ext cx="2003379" cy="535751"/>
          </a:xfrm>
          <a:prstGeom prst="rect">
            <a:avLst/>
          </a:prstGeom>
          <a:solidFill>
            <a:srgbClr val="64C832">
              <a:lumMod val="60000"/>
              <a:lumOff val="40000"/>
            </a:srgbClr>
          </a:solidFill>
          <a:ln w="19050" cap="flat" cmpd="sng" algn="ctr">
            <a:solidFill>
              <a:srgbClr val="64C832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pt-BR" sz="1600" kern="0">
              <a:solidFill>
                <a:srgbClr val="64C832">
                  <a:lumMod val="60000"/>
                  <a:lumOff val="40000"/>
                </a:srgbClr>
              </a:solidFill>
              <a:latin typeface="Nunito Light" pitchFamily="2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ED5F08-74AF-2C61-92E0-9052536C0C2F}"/>
              </a:ext>
            </a:extLst>
          </p:cNvPr>
          <p:cNvSpPr txBox="1"/>
          <p:nvPr/>
        </p:nvSpPr>
        <p:spPr>
          <a:xfrm>
            <a:off x="7601074" y="1111389"/>
            <a:ext cx="11176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pt-BR" sz="1200" b="1" dirty="0">
                <a:solidFill>
                  <a:srgbClr val="FFFFFF"/>
                </a:solidFill>
                <a:latin typeface="Nunito Black" pitchFamily="2" charset="0"/>
              </a:rPr>
              <a:t>ESG</a:t>
            </a:r>
          </a:p>
        </p:txBody>
      </p:sp>
      <p:pic>
        <p:nvPicPr>
          <p:cNvPr id="19" name="Imagem 18" descr="Desenho de um círculo&#10;&#10;Descrição gerada automaticamente com confiança média">
            <a:extLst>
              <a:ext uri="{FF2B5EF4-FFF2-40B4-BE49-F238E27FC236}">
                <a16:creationId xmlns:a16="http://schemas.microsoft.com/office/drawing/2014/main" id="{777F69F5-F686-5353-BF48-25DDE22A53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8333" y="960083"/>
            <a:ext cx="562488" cy="562488"/>
          </a:xfrm>
          <a:prstGeom prst="rect">
            <a:avLst/>
          </a:prstGeom>
        </p:spPr>
      </p:pic>
      <p:sp>
        <p:nvSpPr>
          <p:cNvPr id="7" name="Rectangle 13">
            <a:extLst>
              <a:ext uri="{FF2B5EF4-FFF2-40B4-BE49-F238E27FC236}">
                <a16:creationId xmlns:a16="http://schemas.microsoft.com/office/drawing/2014/main" id="{484CAA37-0FD5-CAD8-68DB-C463F2209D23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6" name="Imagem 15" descr="Forma&#10;&#10;O conteúdo gerado por IA pode estar incorreto.">
            <a:extLst>
              <a:ext uri="{FF2B5EF4-FFF2-40B4-BE49-F238E27FC236}">
                <a16:creationId xmlns:a16="http://schemas.microsoft.com/office/drawing/2014/main" id="{59EBCA6F-7575-D4EB-0876-A83AC2A3D6D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860C3F9A-BBBE-7170-7AE1-C13A0976D65D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4F8794B0-16A9-CAB4-A5F2-A1CF77108EA8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61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aixaDeTexto 15">
            <a:extLst>
              <a:ext uri="{FF2B5EF4-FFF2-40B4-BE49-F238E27FC236}">
                <a16:creationId xmlns:a16="http://schemas.microsoft.com/office/drawing/2014/main" id="{3715A06F-FC92-4C1D-9F84-7CB4E7680C73}"/>
              </a:ext>
            </a:extLst>
          </p:cNvPr>
          <p:cNvSpPr txBox="1"/>
          <p:nvPr/>
        </p:nvSpPr>
        <p:spPr>
          <a:xfrm>
            <a:off x="3560083" y="4872791"/>
            <a:ext cx="2251170" cy="2482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sz="1013"/>
          </a:p>
        </p:txBody>
      </p:sp>
      <p:pic>
        <p:nvPicPr>
          <p:cNvPr id="4" name="Imagem 3" descr="Homem de camisa branca&#10;&#10;Descrição gerada automaticamente com confiança baixa">
            <a:extLst>
              <a:ext uri="{FF2B5EF4-FFF2-40B4-BE49-F238E27FC236}">
                <a16:creationId xmlns:a16="http://schemas.microsoft.com/office/drawing/2014/main" id="{15F11E29-4B3D-E842-E5A5-90F2076A42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960" r="25889" b="31508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FCDD7F97-6D2B-417F-9FE4-CEFC0426FCA7}"/>
              </a:ext>
            </a:extLst>
          </p:cNvPr>
          <p:cNvSpPr/>
          <p:nvPr/>
        </p:nvSpPr>
        <p:spPr>
          <a:xfrm>
            <a:off x="-9121" y="0"/>
            <a:ext cx="4501111" cy="5152030"/>
          </a:xfrm>
          <a:prstGeom prst="rect">
            <a:avLst/>
          </a:prstGeom>
          <a:solidFill>
            <a:srgbClr val="002F34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5E575D42-C373-4C9C-9536-6F2F34AD2742}"/>
              </a:ext>
            </a:extLst>
          </p:cNvPr>
          <p:cNvSpPr txBox="1">
            <a:spLocks/>
          </p:cNvSpPr>
          <p:nvPr/>
        </p:nvSpPr>
        <p:spPr>
          <a:xfrm>
            <a:off x="616498" y="198285"/>
            <a:ext cx="3403951" cy="1260959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850" b="1" i="1" spc="-75" dirty="0">
                <a:solidFill>
                  <a:schemeClr val="bg1"/>
                </a:solidFill>
                <a:latin typeface="Exo 2.0" panose="00000500000000000000" pitchFamily="50" charset="0"/>
              </a:rPr>
              <a:t>Estamos</a:t>
            </a:r>
            <a:r>
              <a:rPr lang="pt-BR" sz="2850" b="1" i="1" spc="-75" dirty="0">
                <a:solidFill>
                  <a:schemeClr val="bg1"/>
                </a:solidFill>
              </a:rPr>
              <a:t> entre as maiores Instituições Financeiras do Pais </a:t>
            </a:r>
          </a:p>
          <a:p>
            <a:pPr marL="0" indent="0">
              <a:buNone/>
            </a:pPr>
            <a:endParaRPr lang="pt-BR" sz="2700" b="1" i="1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sp>
        <p:nvSpPr>
          <p:cNvPr id="7" name="Sinal de Subtração 6">
            <a:extLst>
              <a:ext uri="{FF2B5EF4-FFF2-40B4-BE49-F238E27FC236}">
                <a16:creationId xmlns:a16="http://schemas.microsoft.com/office/drawing/2014/main" id="{344057CC-25F5-428F-9011-54F1E6F46AD3}"/>
              </a:ext>
            </a:extLst>
          </p:cNvPr>
          <p:cNvSpPr/>
          <p:nvPr/>
        </p:nvSpPr>
        <p:spPr>
          <a:xfrm flipV="1">
            <a:off x="620415" y="1377382"/>
            <a:ext cx="498573" cy="240832"/>
          </a:xfrm>
          <a:prstGeom prst="mathMinus">
            <a:avLst/>
          </a:prstGeom>
          <a:solidFill>
            <a:srgbClr val="69B347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>
              <a:solidFill>
                <a:schemeClr val="tx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89637C9-F718-DA03-D612-BAC89AD9B19D}"/>
              </a:ext>
            </a:extLst>
          </p:cNvPr>
          <p:cNvSpPr/>
          <p:nvPr/>
        </p:nvSpPr>
        <p:spPr>
          <a:xfrm>
            <a:off x="-1968906" y="1734836"/>
            <a:ext cx="485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i="1" spc="-113" dirty="0">
                <a:solidFill>
                  <a:srgbClr val="64C832"/>
                </a:solidFill>
                <a:latin typeface="Exo 2.0" pitchFamily="2" charset="77"/>
                <a:cs typeface="Calibri" panose="020F0502020204030204" pitchFamily="34" charset="0"/>
                <a:sym typeface="Wingdings" panose="05000000000000000000" pitchFamily="2" charset="2"/>
              </a:rPr>
              <a:t>6º </a:t>
            </a:r>
            <a:endParaRPr lang="pt-BR" sz="3300" i="1" dirty="0">
              <a:solidFill>
                <a:srgbClr val="64C832"/>
              </a:solidFill>
              <a:latin typeface="Exo 2.0" pitchFamily="2" charset="77"/>
            </a:endParaRPr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E3C4DFC1-5D52-6D30-12A8-EAB3BF835900}"/>
              </a:ext>
            </a:extLst>
          </p:cNvPr>
          <p:cNvSpPr txBox="1">
            <a:spLocks/>
          </p:cNvSpPr>
          <p:nvPr/>
        </p:nvSpPr>
        <p:spPr>
          <a:xfrm>
            <a:off x="1072567" y="1912700"/>
            <a:ext cx="3403951" cy="43858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700" b="1" i="1" spc="-75" dirty="0">
                <a:solidFill>
                  <a:schemeClr val="bg1"/>
                </a:solidFill>
              </a:rPr>
              <a:t>Depósitos totais</a:t>
            </a: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sp>
        <p:nvSpPr>
          <p:cNvPr id="20" name="Espaço Reservado para Conteúdo 2">
            <a:extLst>
              <a:ext uri="{FF2B5EF4-FFF2-40B4-BE49-F238E27FC236}">
                <a16:creationId xmlns:a16="http://schemas.microsoft.com/office/drawing/2014/main" id="{F8FF6983-9885-260A-D2E7-934B47FFB0EB}"/>
              </a:ext>
            </a:extLst>
          </p:cNvPr>
          <p:cNvSpPr txBox="1">
            <a:spLocks/>
          </p:cNvSpPr>
          <p:nvPr/>
        </p:nvSpPr>
        <p:spPr>
          <a:xfrm>
            <a:off x="1072567" y="2563284"/>
            <a:ext cx="3403951" cy="43858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700" b="1" i="1" spc="-75" dirty="0">
                <a:solidFill>
                  <a:schemeClr val="bg1"/>
                </a:solidFill>
              </a:rPr>
              <a:t>Operações de Crédito</a:t>
            </a: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sp>
        <p:nvSpPr>
          <p:cNvPr id="21" name="Espaço Reservado para Conteúdo 2">
            <a:extLst>
              <a:ext uri="{FF2B5EF4-FFF2-40B4-BE49-F238E27FC236}">
                <a16:creationId xmlns:a16="http://schemas.microsoft.com/office/drawing/2014/main" id="{606401A3-4B90-E141-20AE-704359E90EBB}"/>
              </a:ext>
            </a:extLst>
          </p:cNvPr>
          <p:cNvSpPr txBox="1">
            <a:spLocks/>
          </p:cNvSpPr>
          <p:nvPr/>
        </p:nvSpPr>
        <p:spPr>
          <a:xfrm>
            <a:off x="1072567" y="3213868"/>
            <a:ext cx="3403951" cy="43858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700" b="1" i="1" spc="-75" dirty="0">
                <a:solidFill>
                  <a:schemeClr val="bg1"/>
                </a:solidFill>
              </a:rPr>
              <a:t>Ativos Totais</a:t>
            </a: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sp>
        <p:nvSpPr>
          <p:cNvPr id="22" name="Espaço Reservado para Conteúdo 2">
            <a:extLst>
              <a:ext uri="{FF2B5EF4-FFF2-40B4-BE49-F238E27FC236}">
                <a16:creationId xmlns:a16="http://schemas.microsoft.com/office/drawing/2014/main" id="{B4979B54-DA7D-1704-B4E1-D3E90E25142E}"/>
              </a:ext>
            </a:extLst>
          </p:cNvPr>
          <p:cNvSpPr txBox="1">
            <a:spLocks/>
          </p:cNvSpPr>
          <p:nvPr/>
        </p:nvSpPr>
        <p:spPr>
          <a:xfrm>
            <a:off x="1072567" y="3822362"/>
            <a:ext cx="3403951" cy="438581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700" b="1" i="1" spc="-75" dirty="0">
                <a:solidFill>
                  <a:schemeClr val="bg1"/>
                </a:solidFill>
              </a:rPr>
              <a:t>Patrimônio Líquido </a:t>
            </a: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sz="1350" spc="-75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75B50DB-E427-AEF7-4D93-CBA9ABC1AF2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5" y="1796809"/>
            <a:ext cx="412487" cy="412487"/>
          </a:xfrm>
          <a:prstGeom prst="rect">
            <a:avLst/>
          </a:prstGeom>
          <a:ln>
            <a:noFill/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F500E7-A30C-30FC-CA8A-2D5007A6A5E0}"/>
              </a:ext>
            </a:extLst>
          </p:cNvPr>
          <p:cNvSpPr txBox="1"/>
          <p:nvPr/>
        </p:nvSpPr>
        <p:spPr>
          <a:xfrm>
            <a:off x="533618" y="2056974"/>
            <a:ext cx="103860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pt-BR" sz="3750" b="1" i="1" spc="-75" dirty="0">
                <a:solidFill>
                  <a:schemeClr val="bg1"/>
                </a:solidFill>
              </a:rPr>
              <a:t>#6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0278A1A-F1A6-6BE3-48D3-A495723225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5" y="2423367"/>
            <a:ext cx="412487" cy="412487"/>
          </a:xfrm>
          <a:prstGeom prst="rect">
            <a:avLst/>
          </a:prstGeom>
          <a:ln>
            <a:noFill/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0B6A376-E59B-03D8-0EC1-91BA860B68AC}"/>
              </a:ext>
            </a:extLst>
          </p:cNvPr>
          <p:cNvSpPr txBox="1"/>
          <p:nvPr/>
        </p:nvSpPr>
        <p:spPr>
          <a:xfrm>
            <a:off x="533618" y="2683532"/>
            <a:ext cx="103860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pt-BR" sz="3750" b="1" i="1" spc="-75" dirty="0">
                <a:solidFill>
                  <a:schemeClr val="bg1"/>
                </a:solidFill>
              </a:rPr>
              <a:t>#7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899942F-1CB4-ED22-EF83-09C58367ECF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45" y="3099263"/>
            <a:ext cx="412487" cy="412487"/>
          </a:xfrm>
          <a:prstGeom prst="rect">
            <a:avLst/>
          </a:prstGeom>
          <a:ln>
            <a:noFill/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039BF33-509B-F333-C90E-73041907970C}"/>
              </a:ext>
            </a:extLst>
          </p:cNvPr>
          <p:cNvSpPr txBox="1"/>
          <p:nvPr/>
        </p:nvSpPr>
        <p:spPr>
          <a:xfrm>
            <a:off x="533618" y="3359428"/>
            <a:ext cx="103860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pt-BR" sz="3750" b="1" i="1" spc="-75" dirty="0">
                <a:solidFill>
                  <a:schemeClr val="bg1"/>
                </a:solidFill>
              </a:rPr>
              <a:t>#7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6840A997-A2CF-108A-47F3-8700B7C8ACE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71" y="3721948"/>
            <a:ext cx="412487" cy="412487"/>
          </a:xfrm>
          <a:prstGeom prst="rect">
            <a:avLst/>
          </a:prstGeom>
          <a:ln>
            <a:noFill/>
          </a:ln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B6E3E9AC-0681-FD2B-9C32-3CC7C858D9F2}"/>
              </a:ext>
            </a:extLst>
          </p:cNvPr>
          <p:cNvSpPr txBox="1"/>
          <p:nvPr/>
        </p:nvSpPr>
        <p:spPr>
          <a:xfrm>
            <a:off x="518144" y="3982113"/>
            <a:ext cx="1038607" cy="421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pt-BR" sz="3750" b="1" i="1" spc="-75" dirty="0">
                <a:solidFill>
                  <a:schemeClr val="bg1"/>
                </a:solidFill>
              </a:rPr>
              <a:t>#8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AC43775-185E-35EB-C829-35A1760DCA3D}"/>
              </a:ext>
            </a:extLst>
          </p:cNvPr>
          <p:cNvSpPr txBox="1"/>
          <p:nvPr/>
        </p:nvSpPr>
        <p:spPr>
          <a:xfrm>
            <a:off x="91677" y="4903875"/>
            <a:ext cx="388045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chemeClr val="bg1"/>
                </a:solidFill>
                <a:latin typeface="Exo 2.0 Light" panose="00000400000000000000" pitchFamily="50" charset="0"/>
              </a:rPr>
              <a:t>Fonte: IF. Data (Banco Central do Brasil) – Data-base: Junho/2023</a:t>
            </a:r>
          </a:p>
          <a:p>
            <a:r>
              <a:rPr lang="pt-BR" sz="675" dirty="0">
                <a:solidFill>
                  <a:schemeClr val="bg1"/>
                </a:solidFill>
                <a:latin typeface="Exo 2.0 Light" panose="00000400000000000000" pitchFamily="50" charset="0"/>
              </a:rPr>
              <a:t>Dados Sicredi: Demonstrações Financeiras Combinadas</a:t>
            </a:r>
          </a:p>
        </p:txBody>
      </p:sp>
    </p:spTree>
    <p:extLst>
      <p:ext uri="{BB962C8B-B14F-4D97-AF65-F5344CB8AC3E}">
        <p14:creationId xmlns:p14="http://schemas.microsoft.com/office/powerpoint/2010/main" val="1667279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Uma imagem contendo placa, quarto, rua, em pé&#10;&#10;Descrição gerada automaticamente">
            <a:extLst>
              <a:ext uri="{FF2B5EF4-FFF2-40B4-BE49-F238E27FC236}">
                <a16:creationId xmlns:a16="http://schemas.microsoft.com/office/drawing/2014/main" id="{835F85B3-3924-9A8E-9505-AD077AA5F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829" y="1721051"/>
            <a:ext cx="1967989" cy="3422449"/>
          </a:xfrm>
          <a:prstGeom prst="rect">
            <a:avLst/>
          </a:prstGeom>
        </p:spPr>
      </p:pic>
      <p:sp>
        <p:nvSpPr>
          <p:cNvPr id="17" name="TextBox 19">
            <a:extLst>
              <a:ext uri="{FF2B5EF4-FFF2-40B4-BE49-F238E27FC236}">
                <a16:creationId xmlns:a16="http://schemas.microsoft.com/office/drawing/2014/main" id="{A18C5EDB-F4A3-EFC0-404D-72F02A4C5FAC}"/>
              </a:ext>
            </a:extLst>
          </p:cNvPr>
          <p:cNvSpPr txBox="1"/>
          <p:nvPr/>
        </p:nvSpPr>
        <p:spPr>
          <a:xfrm>
            <a:off x="289880" y="2914559"/>
            <a:ext cx="1870703" cy="360227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ts val="1575"/>
              </a:lnSpc>
              <a:defRPr/>
            </a:pPr>
            <a:r>
              <a:rPr lang="en-US" sz="4050" b="1" i="1" spc="-300" dirty="0">
                <a:solidFill>
                  <a:prstClr val="white"/>
                </a:solidFill>
                <a:latin typeface="Calibri" panose="020F0502020204030204"/>
              </a:rPr>
              <a:t>~550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86548EC-3181-8BFE-2F5F-DCE2F9065839}"/>
              </a:ext>
            </a:extLst>
          </p:cNvPr>
          <p:cNvCxnSpPr>
            <a:cxnSpLocks/>
            <a:endCxn id="3" idx="4"/>
          </p:cNvCxnSpPr>
          <p:nvPr/>
        </p:nvCxnSpPr>
        <p:spPr>
          <a:xfrm>
            <a:off x="-35261" y="3789557"/>
            <a:ext cx="4853007" cy="1"/>
          </a:xfrm>
          <a:prstGeom prst="line">
            <a:avLst/>
          </a:prstGeom>
          <a:ln>
            <a:solidFill>
              <a:srgbClr val="3FA1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2E0B9F6-369C-2508-FC45-2D4C21AA552C}"/>
              </a:ext>
            </a:extLst>
          </p:cNvPr>
          <p:cNvSpPr txBox="1"/>
          <p:nvPr/>
        </p:nvSpPr>
        <p:spPr>
          <a:xfrm>
            <a:off x="3900594" y="2929863"/>
            <a:ext cx="1729878" cy="390748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ts val="1575"/>
              </a:lnSpc>
              <a:defRPr/>
            </a:pPr>
            <a:r>
              <a:rPr lang="en-US" sz="4950" b="1" i="1" spc="-300" dirty="0">
                <a:solidFill>
                  <a:prstClr val="white"/>
                </a:solidFill>
                <a:latin typeface="Calibri" panose="020F0502020204030204"/>
                <a:ea typeface="+mn-lt"/>
                <a:cs typeface="Calibri" panose="020F0502020204030204"/>
              </a:rPr>
              <a:t>9</a:t>
            </a:r>
            <a:endParaRPr lang="pt-BR" sz="49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xt">
            <a:extLst>
              <a:ext uri="{FF2B5EF4-FFF2-40B4-BE49-F238E27FC236}">
                <a16:creationId xmlns:a16="http://schemas.microsoft.com/office/drawing/2014/main" id="{D2590793-4D28-0A1B-76BA-C2065764D6E0}"/>
              </a:ext>
            </a:extLst>
          </p:cNvPr>
          <p:cNvSpPr txBox="1"/>
          <p:nvPr/>
        </p:nvSpPr>
        <p:spPr>
          <a:xfrm>
            <a:off x="164765" y="159690"/>
            <a:ext cx="8164848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1250" b="1" i="1" spc="-900" dirty="0">
                <a:ln w="28575">
                  <a:solidFill>
                    <a:prstClr val="white"/>
                  </a:solidFill>
                  <a:prstDash val="solid"/>
                </a:ln>
                <a:solidFill>
                  <a:prstClr val="white"/>
                </a:solidFill>
                <a:latin typeface="Calibri" panose="020F0502020204030204"/>
              </a:rPr>
              <a:t>RPPS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BF96E508-0FAA-8864-5CD0-493807664D3B}"/>
              </a:ext>
            </a:extLst>
          </p:cNvPr>
          <p:cNvSpPr txBox="1"/>
          <p:nvPr/>
        </p:nvSpPr>
        <p:spPr>
          <a:xfrm>
            <a:off x="275900" y="3265407"/>
            <a:ext cx="1710545" cy="28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25"/>
              </a:lnSpc>
              <a:defRPr/>
            </a:pPr>
            <a:r>
              <a:rPr lang="en-US" sz="1650" b="1" spc="-75" dirty="0">
                <a:solidFill>
                  <a:prstClr val="white"/>
                </a:solidFill>
                <a:latin typeface="Calibri" panose="020F0502020204030204"/>
              </a:rPr>
              <a:t>RPPS </a:t>
            </a:r>
            <a:r>
              <a:rPr lang="en-US" sz="1650" b="1" spc="-75" dirty="0" err="1">
                <a:solidFill>
                  <a:prstClr val="white"/>
                </a:solidFill>
                <a:latin typeface="Calibri" panose="020F0502020204030204"/>
              </a:rPr>
              <a:t>cotistas</a:t>
            </a:r>
            <a:endParaRPr lang="en-US" sz="1650" b="1" spc="-75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TextBox 19">
            <a:extLst>
              <a:ext uri="{FF2B5EF4-FFF2-40B4-BE49-F238E27FC236}">
                <a16:creationId xmlns:a16="http://schemas.microsoft.com/office/drawing/2014/main" id="{BABAB949-29E1-F305-CA00-34A2DEF3ACE7}"/>
              </a:ext>
            </a:extLst>
          </p:cNvPr>
          <p:cNvSpPr txBox="1"/>
          <p:nvPr/>
        </p:nvSpPr>
        <p:spPr>
          <a:xfrm>
            <a:off x="2165134" y="3265407"/>
            <a:ext cx="1710545" cy="28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25"/>
              </a:lnSpc>
              <a:defRPr/>
            </a:pPr>
            <a:r>
              <a:rPr lang="en-US" sz="1650" b="1" spc="-75" dirty="0">
                <a:solidFill>
                  <a:prstClr val="white"/>
                </a:solidFill>
                <a:latin typeface="Calibri" panose="020F0502020204030204"/>
              </a:rPr>
              <a:t>Investimentos</a:t>
            </a:r>
          </a:p>
        </p:txBody>
      </p:sp>
      <p:sp>
        <p:nvSpPr>
          <p:cNvPr id="31" name="TextBox 19">
            <a:extLst>
              <a:ext uri="{FF2B5EF4-FFF2-40B4-BE49-F238E27FC236}">
                <a16:creationId xmlns:a16="http://schemas.microsoft.com/office/drawing/2014/main" id="{AB345E46-FE49-391E-2754-C243D278AF52}"/>
              </a:ext>
            </a:extLst>
          </p:cNvPr>
          <p:cNvSpPr txBox="1"/>
          <p:nvPr/>
        </p:nvSpPr>
        <p:spPr>
          <a:xfrm>
            <a:off x="3900594" y="3194668"/>
            <a:ext cx="1679332" cy="462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425"/>
              </a:lnSpc>
              <a:defRPr/>
            </a:pPr>
            <a:r>
              <a:rPr lang="en-US" sz="1650" b="1" spc="-75" dirty="0">
                <a:solidFill>
                  <a:prstClr val="white"/>
                </a:solidFill>
                <a:latin typeface="Calibri" panose="020F0502020204030204"/>
              </a:rPr>
              <a:t>Fundos de Investimentos</a:t>
            </a:r>
          </a:p>
        </p:txBody>
      </p:sp>
      <p:sp>
        <p:nvSpPr>
          <p:cNvPr id="2" name="Triângulo isósceles 1">
            <a:extLst>
              <a:ext uri="{FF2B5EF4-FFF2-40B4-BE49-F238E27FC236}">
                <a16:creationId xmlns:a16="http://schemas.microsoft.com/office/drawing/2014/main" id="{62FB6194-CA37-F010-D10D-9E77258AD02C}"/>
              </a:ext>
            </a:extLst>
          </p:cNvPr>
          <p:cNvSpPr/>
          <p:nvPr/>
        </p:nvSpPr>
        <p:spPr>
          <a:xfrm>
            <a:off x="1062194" y="3684288"/>
            <a:ext cx="137957" cy="100166"/>
          </a:xfrm>
          <a:prstGeom prst="triangle">
            <a:avLst/>
          </a:prstGeom>
          <a:solidFill>
            <a:srgbClr val="64C832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4E7410D6-F9CE-CF97-8627-F34B6E0C398E}"/>
              </a:ext>
            </a:extLst>
          </p:cNvPr>
          <p:cNvSpPr/>
          <p:nvPr/>
        </p:nvSpPr>
        <p:spPr>
          <a:xfrm>
            <a:off x="4679789" y="3689392"/>
            <a:ext cx="137957" cy="100166"/>
          </a:xfrm>
          <a:prstGeom prst="triangle">
            <a:avLst/>
          </a:prstGeom>
          <a:solidFill>
            <a:srgbClr val="64C832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riângulo isósceles 3">
            <a:extLst>
              <a:ext uri="{FF2B5EF4-FFF2-40B4-BE49-F238E27FC236}">
                <a16:creationId xmlns:a16="http://schemas.microsoft.com/office/drawing/2014/main" id="{DF555218-9063-311D-ECA6-4FA9181723F3}"/>
              </a:ext>
            </a:extLst>
          </p:cNvPr>
          <p:cNvSpPr/>
          <p:nvPr/>
        </p:nvSpPr>
        <p:spPr>
          <a:xfrm>
            <a:off x="2911627" y="3687358"/>
            <a:ext cx="137957" cy="100166"/>
          </a:xfrm>
          <a:prstGeom prst="triangle">
            <a:avLst/>
          </a:prstGeom>
          <a:solidFill>
            <a:srgbClr val="64C832"/>
          </a:solidFill>
          <a:ln>
            <a:solidFill>
              <a:srgbClr val="3FA1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TextBox 19">
            <a:extLst>
              <a:ext uri="{FF2B5EF4-FFF2-40B4-BE49-F238E27FC236}">
                <a16:creationId xmlns:a16="http://schemas.microsoft.com/office/drawing/2014/main" id="{0B09AB6B-3895-0167-FCD0-E622DFEAF462}"/>
              </a:ext>
            </a:extLst>
          </p:cNvPr>
          <p:cNvSpPr txBox="1"/>
          <p:nvPr/>
        </p:nvSpPr>
        <p:spPr>
          <a:xfrm>
            <a:off x="1980172" y="2912721"/>
            <a:ext cx="1870703" cy="405945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ts val="1575"/>
              </a:lnSpc>
              <a:defRPr/>
            </a:pPr>
            <a:r>
              <a:rPr lang="en-US" b="1" i="1" spc="-300" dirty="0">
                <a:solidFill>
                  <a:prstClr val="white"/>
                </a:solidFill>
                <a:latin typeface="Calibri" panose="020F0502020204030204"/>
              </a:rPr>
              <a:t>R$</a:t>
            </a:r>
            <a:r>
              <a:rPr lang="en-US" sz="5400" b="1" i="1" spc="-300" dirty="0">
                <a:solidFill>
                  <a:prstClr val="white"/>
                </a:solidFill>
                <a:latin typeface="Calibri" panose="020F0502020204030204"/>
              </a:rPr>
              <a:t> </a:t>
            </a:r>
            <a:r>
              <a:rPr lang="en-US" sz="4950" b="1" i="1" spc="-300" dirty="0">
                <a:solidFill>
                  <a:prstClr val="white"/>
                </a:solidFill>
                <a:latin typeface="Calibri" panose="020F0502020204030204"/>
              </a:rPr>
              <a:t>4,5</a:t>
            </a:r>
            <a:r>
              <a:rPr lang="en-US" sz="4050" b="1" i="1" spc="-300" dirty="0">
                <a:solidFill>
                  <a:prstClr val="white"/>
                </a:solidFill>
                <a:latin typeface="Calibri" panose="020F0502020204030204"/>
              </a:rPr>
              <a:t>BI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965611F-9DDB-351F-07AD-32611F68F804}"/>
              </a:ext>
            </a:extLst>
          </p:cNvPr>
          <p:cNvSpPr/>
          <p:nvPr/>
        </p:nvSpPr>
        <p:spPr>
          <a:xfrm>
            <a:off x="407510" y="3861765"/>
            <a:ext cx="1447325" cy="8472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algn="ctr" defTabSz="518396">
              <a:defRPr/>
            </a:pPr>
            <a:r>
              <a:rPr lang="pt-BR" kern="0" dirty="0">
                <a:solidFill>
                  <a:prstClr val="white"/>
                </a:solidFill>
                <a:latin typeface="Calibri Light" panose="020F0302020204030204"/>
              </a:rPr>
              <a:t>Somos a </a:t>
            </a:r>
            <a:r>
              <a:rPr lang="pt-BR" b="1" kern="0" dirty="0">
                <a:solidFill>
                  <a:prstClr val="white"/>
                </a:solidFill>
                <a:latin typeface="Calibri Light" panose="020F0302020204030204"/>
              </a:rPr>
              <a:t>4º</a:t>
            </a:r>
            <a:r>
              <a:rPr lang="pt-BR" kern="0" dirty="0">
                <a:solidFill>
                  <a:prstClr val="white"/>
                </a:solidFill>
                <a:latin typeface="Calibri Light" panose="020F0302020204030204"/>
              </a:rPr>
              <a:t> </a:t>
            </a:r>
            <a:r>
              <a:rPr lang="pt-BR" b="1" kern="0" dirty="0">
                <a:solidFill>
                  <a:prstClr val="white"/>
                </a:solidFill>
                <a:latin typeface="Calibri Light" panose="020F0302020204030204"/>
              </a:rPr>
              <a:t>maior</a:t>
            </a:r>
            <a:r>
              <a:rPr lang="pt-BR" kern="0" dirty="0">
                <a:solidFill>
                  <a:prstClr val="white"/>
                </a:solidFill>
                <a:latin typeface="Calibri Light" panose="020F0302020204030204"/>
              </a:rPr>
              <a:t> IF do país em nº de diferentes RPPS cotistas</a:t>
            </a:r>
            <a:endParaRPr lang="pt-BR" b="1" kern="0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2095AF6-3935-21E7-374E-CBEC2FF5F7FE}"/>
              </a:ext>
            </a:extLst>
          </p:cNvPr>
          <p:cNvSpPr/>
          <p:nvPr/>
        </p:nvSpPr>
        <p:spPr>
          <a:xfrm>
            <a:off x="2296744" y="3855124"/>
            <a:ext cx="1447325" cy="8472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algn="ctr" defTabSz="518396">
              <a:defRPr/>
            </a:pPr>
            <a:r>
              <a:rPr lang="pt-BR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Somos a </a:t>
            </a:r>
            <a:r>
              <a:rPr lang="pt-BR" b="1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7ª maior </a:t>
            </a:r>
            <a:r>
              <a:rPr lang="pt-BR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IF em recursos de RPPS sob gestão</a:t>
            </a:r>
          </a:p>
        </p:txBody>
      </p:sp>
    </p:spTree>
    <p:extLst>
      <p:ext uri="{BB962C8B-B14F-4D97-AF65-F5344CB8AC3E}">
        <p14:creationId xmlns:p14="http://schemas.microsoft.com/office/powerpoint/2010/main" val="2346852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8125" y="404813"/>
            <a:ext cx="381000" cy="381000"/>
          </a:xfrm>
          <a:prstGeom prst="rect">
            <a:avLst/>
          </a:prstGeom>
        </p:spPr>
      </p:pic>
      <p:sp>
        <p:nvSpPr>
          <p:cNvPr id="8" name="Object7"/>
          <p:cNvSpPr/>
          <p:nvPr/>
        </p:nvSpPr>
        <p:spPr>
          <a:xfrm>
            <a:off x="476250" y="566739"/>
            <a:ext cx="77658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89">
              <a:lnSpc>
                <a:spcPts val="2513"/>
              </a:lnSpc>
            </a:pPr>
            <a:r>
              <a:rPr lang="pt-BR" sz="21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Produtos</a:t>
            </a:r>
            <a:endParaRPr lang="en-US" sz="2100" b="1" i="1" dirty="0">
              <a:solidFill>
                <a:srgbClr val="0A4B1E"/>
              </a:solidFill>
              <a:latin typeface="Exo 2.0" panose="00000500000000000000" pitchFamily="50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C253859-39F1-4149-8909-8E7E4EBA9222}"/>
              </a:ext>
            </a:extLst>
          </p:cNvPr>
          <p:cNvSpPr/>
          <p:nvPr/>
        </p:nvSpPr>
        <p:spPr>
          <a:xfrm>
            <a:off x="2020812" y="921585"/>
            <a:ext cx="1006117" cy="119979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endParaRPr lang="pt-BR" sz="1800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63" name="Imagem 62">
            <a:extLst>
              <a:ext uri="{FF2B5EF4-FFF2-40B4-BE49-F238E27FC236}">
                <a16:creationId xmlns:a16="http://schemas.microsoft.com/office/drawing/2014/main" id="{3F8BD90D-2561-4C48-81CE-DD4CB5A46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1271" y="833153"/>
            <a:ext cx="646513" cy="783660"/>
          </a:xfrm>
          <a:prstGeom prst="rect">
            <a:avLst/>
          </a:prstGeom>
        </p:spPr>
      </p:pic>
      <p:sp>
        <p:nvSpPr>
          <p:cNvPr id="69" name="Retângulo 68">
            <a:extLst>
              <a:ext uri="{FF2B5EF4-FFF2-40B4-BE49-F238E27FC236}">
                <a16:creationId xmlns:a16="http://schemas.microsoft.com/office/drawing/2014/main" id="{A1A0E3DA-6040-4EFD-8215-CDD6CAC0F82F}"/>
              </a:ext>
            </a:extLst>
          </p:cNvPr>
          <p:cNvSpPr/>
          <p:nvPr/>
        </p:nvSpPr>
        <p:spPr>
          <a:xfrm>
            <a:off x="1304393" y="969314"/>
            <a:ext cx="1262685" cy="521228"/>
          </a:xfrm>
          <a:prstGeom prst="rect">
            <a:avLst/>
          </a:prstGeom>
          <a:solidFill>
            <a:srgbClr val="146E32"/>
          </a:solidFill>
          <a:ln w="12700" cap="flat" cmpd="sng" algn="ctr">
            <a:solidFill>
              <a:srgbClr val="146E32"/>
            </a:solidFill>
            <a:prstDash val="solid"/>
            <a:miter lim="800000"/>
          </a:ln>
          <a:effectLst/>
        </p:spPr>
        <p:txBody>
          <a:bodyPr rtlCol="0" anchor="t" anchorCtr="1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7, I, B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100%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F5CE4FA2-F6A9-4A4A-B6FA-9899BB904B2B}"/>
              </a:ext>
            </a:extLst>
          </p:cNvPr>
          <p:cNvSpPr/>
          <p:nvPr/>
        </p:nvSpPr>
        <p:spPr>
          <a:xfrm>
            <a:off x="358944" y="4032689"/>
            <a:ext cx="669600" cy="669600"/>
          </a:xfrm>
          <a:prstGeom prst="rect">
            <a:avLst/>
          </a:prstGeom>
          <a:solidFill>
            <a:srgbClr val="E6F0DE"/>
          </a:solidFill>
          <a:ln w="12700" cap="flat" cmpd="sng" algn="ctr">
            <a:solidFill>
              <a:srgbClr val="E6F0D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2400" b="1" kern="0" dirty="0">
                <a:solidFill>
                  <a:srgbClr val="596459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B890574B-384D-4848-8CB7-0A538C42357F}"/>
              </a:ext>
            </a:extLst>
          </p:cNvPr>
          <p:cNvSpPr/>
          <p:nvPr/>
        </p:nvSpPr>
        <p:spPr>
          <a:xfrm>
            <a:off x="358944" y="3032275"/>
            <a:ext cx="669600" cy="939455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50000">
                <a:srgbClr val="FFEB84">
                  <a:tint val="44500"/>
                  <a:satMod val="160000"/>
                </a:srgbClr>
              </a:gs>
              <a:gs pos="100000">
                <a:srgbClr val="FFEB84">
                  <a:tint val="23500"/>
                  <a:satMod val="160000"/>
                </a:srgbClr>
              </a:gs>
            </a:gsLst>
            <a:lin ang="5400000" scaled="1"/>
            <a:tileRect/>
          </a:gradFill>
          <a:ln w="12700" cap="flat" cmpd="sng" algn="ctr">
            <a:solidFill>
              <a:srgbClr val="FFEB8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2400" b="1" kern="0" dirty="0">
                <a:solidFill>
                  <a:srgbClr val="596459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CDA9ED82-23D5-44FF-9574-9160EF222EC2}"/>
              </a:ext>
            </a:extLst>
          </p:cNvPr>
          <p:cNvSpPr/>
          <p:nvPr/>
        </p:nvSpPr>
        <p:spPr>
          <a:xfrm>
            <a:off x="358944" y="2400388"/>
            <a:ext cx="658800" cy="562151"/>
          </a:xfrm>
          <a:prstGeom prst="rect">
            <a:avLst/>
          </a:prstGeom>
          <a:solidFill>
            <a:srgbClr val="FB9574"/>
          </a:solidFill>
          <a:ln w="12700" cap="flat" cmpd="sng" algn="ctr">
            <a:solidFill>
              <a:srgbClr val="FB957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2400" b="1" kern="0" dirty="0">
                <a:solidFill>
                  <a:srgbClr val="596459"/>
                </a:solidFill>
                <a:latin typeface="Calibri" panose="020F0502020204030204"/>
              </a:rPr>
              <a:t>4</a:t>
            </a:r>
          </a:p>
        </p:txBody>
      </p:sp>
      <p:sp>
        <p:nvSpPr>
          <p:cNvPr id="74" name="Retângulo 73">
            <a:extLst>
              <a:ext uri="{FF2B5EF4-FFF2-40B4-BE49-F238E27FC236}">
                <a16:creationId xmlns:a16="http://schemas.microsoft.com/office/drawing/2014/main" id="{1BDCFD4E-55CA-4871-9321-3B62B83F12A6}"/>
              </a:ext>
            </a:extLst>
          </p:cNvPr>
          <p:cNvSpPr/>
          <p:nvPr/>
        </p:nvSpPr>
        <p:spPr>
          <a:xfrm>
            <a:off x="358944" y="1648458"/>
            <a:ext cx="669600" cy="627270"/>
          </a:xfrm>
          <a:prstGeom prst="rect">
            <a:avLst/>
          </a:prstGeom>
          <a:solidFill>
            <a:srgbClr val="F8696B"/>
          </a:solidFill>
          <a:ln w="12700" cap="flat" cmpd="sng" algn="ctr">
            <a:solidFill>
              <a:srgbClr val="F8696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2400" b="1" kern="0" dirty="0">
                <a:solidFill>
                  <a:srgbClr val="596459"/>
                </a:solidFill>
                <a:latin typeface="Calibri" panose="020F0502020204030204"/>
              </a:rPr>
              <a:t>5</a:t>
            </a:r>
          </a:p>
        </p:txBody>
      </p: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FD168B1F-D7AF-4574-AE91-E939007AAACB}"/>
              </a:ext>
            </a:extLst>
          </p:cNvPr>
          <p:cNvCxnSpPr>
            <a:cxnSpLocks/>
          </p:cNvCxnSpPr>
          <p:nvPr/>
        </p:nvCxnSpPr>
        <p:spPr>
          <a:xfrm flipV="1">
            <a:off x="1142999" y="1510067"/>
            <a:ext cx="0" cy="3214990"/>
          </a:xfrm>
          <a:prstGeom prst="straightConnector1">
            <a:avLst/>
          </a:prstGeom>
          <a:noFill/>
          <a:ln w="28575" cap="flat" cmpd="sng" algn="ctr">
            <a:solidFill>
              <a:srgbClr val="596459"/>
            </a:solidFill>
            <a:prstDash val="solid"/>
            <a:miter lim="800000"/>
            <a:tailEnd type="triangle"/>
          </a:ln>
          <a:effectLst/>
        </p:spPr>
      </p:cxnSp>
      <p:sp>
        <p:nvSpPr>
          <p:cNvPr id="77" name="Retângulo 76">
            <a:extLst>
              <a:ext uri="{FF2B5EF4-FFF2-40B4-BE49-F238E27FC236}">
                <a16:creationId xmlns:a16="http://schemas.microsoft.com/office/drawing/2014/main" id="{A9AC4D7E-C411-4F47-A13D-D3658E07CC10}"/>
              </a:ext>
            </a:extLst>
          </p:cNvPr>
          <p:cNvSpPr/>
          <p:nvPr/>
        </p:nvSpPr>
        <p:spPr>
          <a:xfrm>
            <a:off x="1304393" y="4025434"/>
            <a:ext cx="1262683" cy="645092"/>
          </a:xfrm>
          <a:prstGeom prst="rect">
            <a:avLst/>
          </a:prstGeom>
          <a:solidFill>
            <a:srgbClr val="E6F0DE"/>
          </a:solidFill>
          <a:ln w="12700" cap="flat" cmpd="sng" algn="ctr">
            <a:solidFill>
              <a:srgbClr val="E6F0DE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FIRF LIQUIDEZ EMPRESARIAL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791ADC22-125F-482D-8AF7-DDA26E7E96BA}"/>
              </a:ext>
            </a:extLst>
          </p:cNvPr>
          <p:cNvSpPr/>
          <p:nvPr/>
        </p:nvSpPr>
        <p:spPr>
          <a:xfrm>
            <a:off x="5814060" y="2400388"/>
            <a:ext cx="1494001" cy="247306"/>
          </a:xfrm>
          <a:prstGeom prst="rect">
            <a:avLst/>
          </a:prstGeom>
          <a:solidFill>
            <a:srgbClr val="FDC07C"/>
          </a:solidFill>
          <a:ln w="12700" cap="flat" cmpd="sng" algn="ctr">
            <a:solidFill>
              <a:srgbClr val="FDC07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FM BOLSA EUA</a:t>
            </a:r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6AE9F368-562D-4096-B589-8AC67DE0075B}"/>
              </a:ext>
            </a:extLst>
          </p:cNvPr>
          <p:cNvSpPr/>
          <p:nvPr/>
        </p:nvSpPr>
        <p:spPr>
          <a:xfrm>
            <a:off x="2724936" y="3531842"/>
            <a:ext cx="1386703" cy="2079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FIRF IRF-M 1</a:t>
            </a:r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794875BD-E004-4D0A-B73D-78AEEC99AB6E}"/>
              </a:ext>
            </a:extLst>
          </p:cNvPr>
          <p:cNvSpPr/>
          <p:nvPr/>
        </p:nvSpPr>
        <p:spPr>
          <a:xfrm>
            <a:off x="2724936" y="3032276"/>
            <a:ext cx="1386704" cy="20834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rgbClr val="FFEB84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FIRF IRF-M</a:t>
            </a: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1763B4D8-7FEE-4BB0-A6AF-AC0BF20A8BE2}"/>
              </a:ext>
            </a:extLst>
          </p:cNvPr>
          <p:cNvSpPr/>
          <p:nvPr/>
        </p:nvSpPr>
        <p:spPr>
          <a:xfrm>
            <a:off x="7522317" y="2407686"/>
            <a:ext cx="1494000" cy="247489"/>
          </a:xfrm>
          <a:prstGeom prst="rect">
            <a:avLst/>
          </a:prstGeom>
          <a:solidFill>
            <a:srgbClr val="FDC07C"/>
          </a:solidFill>
          <a:ln w="12700" cap="flat" cmpd="sng" algn="ctr">
            <a:solidFill>
              <a:srgbClr val="FDC07C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FIA ESG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4A6C5D9F-41AE-4399-ACDD-F48F107E9E9E}"/>
              </a:ext>
            </a:extLst>
          </p:cNvPr>
          <p:cNvSpPr/>
          <p:nvPr/>
        </p:nvSpPr>
        <p:spPr>
          <a:xfrm>
            <a:off x="7522317" y="1648460"/>
            <a:ext cx="1494000" cy="229961"/>
          </a:xfrm>
          <a:prstGeom prst="rect">
            <a:avLst/>
          </a:prstGeom>
          <a:solidFill>
            <a:srgbClr val="F8696B"/>
          </a:solidFill>
          <a:ln w="12700" cap="flat" cmpd="sng" algn="ctr">
            <a:solidFill>
              <a:srgbClr val="F8696B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FIA PETROBRAS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9C65930C-7F9A-4638-A6DF-FD7A4C7AB1EE}"/>
              </a:ext>
            </a:extLst>
          </p:cNvPr>
          <p:cNvSpPr txBox="1"/>
          <p:nvPr/>
        </p:nvSpPr>
        <p:spPr>
          <a:xfrm rot="16200000">
            <a:off x="-1446339" y="2869138"/>
            <a:ext cx="3212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8">
              <a:defRPr/>
            </a:pPr>
            <a:r>
              <a:rPr lang="pt-BR" sz="1400" b="1" i="1" kern="0" dirty="0">
                <a:solidFill>
                  <a:srgbClr val="596459"/>
                </a:solidFill>
                <a:latin typeface="Nunito Light" pitchFamily="2" charset="0"/>
              </a:rPr>
              <a:t>ESCALA DE RISCO DE MERCADO</a:t>
            </a:r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28F422B8-3259-47EC-8705-5061C117FAA9}"/>
              </a:ext>
            </a:extLst>
          </p:cNvPr>
          <p:cNvSpPr/>
          <p:nvPr/>
        </p:nvSpPr>
        <p:spPr>
          <a:xfrm>
            <a:off x="5814060" y="982671"/>
            <a:ext cx="1494000" cy="507869"/>
          </a:xfrm>
          <a:prstGeom prst="rect">
            <a:avLst/>
          </a:prstGeom>
          <a:solidFill>
            <a:srgbClr val="59645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10, I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15%</a:t>
            </a: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8B1D4A57-DF6F-4789-9F6A-7BB092474D04}"/>
              </a:ext>
            </a:extLst>
          </p:cNvPr>
          <p:cNvSpPr/>
          <p:nvPr/>
        </p:nvSpPr>
        <p:spPr>
          <a:xfrm>
            <a:off x="7522317" y="982672"/>
            <a:ext cx="1494000" cy="507868"/>
          </a:xfrm>
          <a:prstGeom prst="rect">
            <a:avLst/>
          </a:prstGeom>
          <a:solidFill>
            <a:srgbClr val="596459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8, I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50%</a:t>
            </a:r>
          </a:p>
        </p:txBody>
      </p:sp>
      <p:sp>
        <p:nvSpPr>
          <p:cNvPr id="97" name="Retângulo 96">
            <a:extLst>
              <a:ext uri="{FF2B5EF4-FFF2-40B4-BE49-F238E27FC236}">
                <a16:creationId xmlns:a16="http://schemas.microsoft.com/office/drawing/2014/main" id="{C080AE1B-CF2E-4FA7-B6DC-14693AC38F7A}"/>
              </a:ext>
            </a:extLst>
          </p:cNvPr>
          <p:cNvSpPr/>
          <p:nvPr/>
        </p:nvSpPr>
        <p:spPr>
          <a:xfrm>
            <a:off x="1298321" y="3032657"/>
            <a:ext cx="1268757" cy="2079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FIC IMA-B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ABC3A9D-FA51-4067-9814-A29C7A55FA82}"/>
              </a:ext>
            </a:extLst>
          </p:cNvPr>
          <p:cNvSpPr/>
          <p:nvPr/>
        </p:nvSpPr>
        <p:spPr>
          <a:xfrm>
            <a:off x="1298321" y="3531843"/>
            <a:ext cx="1268757" cy="2079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FIC IMA-B5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D54F6F6-6A2F-4EAE-BDDA-68B69FE02CE0}"/>
              </a:ext>
            </a:extLst>
          </p:cNvPr>
          <p:cNvSpPr/>
          <p:nvPr/>
        </p:nvSpPr>
        <p:spPr>
          <a:xfrm>
            <a:off x="2724936" y="981797"/>
            <a:ext cx="1386704" cy="508744"/>
          </a:xfrm>
          <a:prstGeom prst="rect">
            <a:avLst/>
          </a:prstGeom>
          <a:solidFill>
            <a:srgbClr val="146E32"/>
          </a:solidFill>
          <a:ln w="12700" cap="flat" cmpd="sng" algn="ctr">
            <a:solidFill>
              <a:srgbClr val="146E32"/>
            </a:solidFill>
            <a:prstDash val="solid"/>
            <a:miter lim="800000"/>
          </a:ln>
          <a:effectLst/>
        </p:spPr>
        <p:txBody>
          <a:bodyPr rtlCol="0" anchor="t" anchorCtr="1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7, III, A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60%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00AFB7-5352-EFF9-E93C-57B7162D2793}"/>
              </a:ext>
            </a:extLst>
          </p:cNvPr>
          <p:cNvSpPr/>
          <p:nvPr/>
        </p:nvSpPr>
        <p:spPr>
          <a:xfrm>
            <a:off x="4269498" y="981797"/>
            <a:ext cx="1386704" cy="508744"/>
          </a:xfrm>
          <a:prstGeom prst="rect">
            <a:avLst/>
          </a:prstGeom>
          <a:solidFill>
            <a:srgbClr val="146E32"/>
          </a:solidFill>
          <a:ln w="12700" cap="flat" cmpd="sng" algn="ctr">
            <a:solidFill>
              <a:srgbClr val="146E32"/>
            </a:solidFill>
            <a:prstDash val="solid"/>
            <a:miter lim="800000"/>
          </a:ln>
          <a:effectLst/>
        </p:spPr>
        <p:txBody>
          <a:bodyPr rtlCol="0" anchor="t" anchorCtr="1"/>
          <a:lstStyle/>
          <a:p>
            <a:pPr algn="ctr" defTabSz="914378">
              <a:defRPr/>
            </a:pPr>
            <a:r>
              <a:rPr lang="pt-BR" sz="1700" b="1" i="1" kern="0" dirty="0">
                <a:solidFill>
                  <a:srgbClr val="FFFFFF"/>
                </a:solidFill>
                <a:latin typeface="Nunito Black" pitchFamily="2" charset="0"/>
              </a:rPr>
              <a:t>ART 7, V, B</a:t>
            </a:r>
          </a:p>
          <a:p>
            <a:pPr algn="ctr" defTabSz="914378">
              <a:defRPr/>
            </a:pPr>
            <a:r>
              <a:rPr lang="pt-BR" sz="1100" b="1" i="1" kern="0" dirty="0">
                <a:solidFill>
                  <a:srgbClr val="FFFFFF"/>
                </a:solidFill>
                <a:latin typeface="Nunito Black" pitchFamily="2" charset="0"/>
              </a:rPr>
              <a:t>Até 5%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BAE6F71-1D33-8E99-C411-36344A938606}"/>
              </a:ext>
            </a:extLst>
          </p:cNvPr>
          <p:cNvSpPr/>
          <p:nvPr/>
        </p:nvSpPr>
        <p:spPr>
          <a:xfrm>
            <a:off x="4269498" y="3305309"/>
            <a:ext cx="1386700" cy="437135"/>
          </a:xfrm>
          <a:prstGeom prst="rect">
            <a:avLst/>
          </a:prstGeom>
          <a:solidFill>
            <a:srgbClr val="E6F0DE"/>
          </a:solidFill>
          <a:ln w="12700" cap="flat" cmpd="sng" algn="ctr">
            <a:solidFill>
              <a:srgbClr val="E6F0DE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78">
              <a:defRPr/>
            </a:pPr>
            <a:r>
              <a:rPr lang="pt-BR" sz="1200" b="1" kern="0" dirty="0">
                <a:solidFill>
                  <a:srgbClr val="596459"/>
                </a:solidFill>
                <a:latin typeface="Calibri" panose="020F0502020204030204"/>
              </a:rPr>
              <a:t>FIC CREDITO BAIXO RISCO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F89C6772-F467-8FC6-71A3-A9DFF947DCFC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9" name="Imagem 8" descr="Forma&#10;&#10;O conteúdo gerado por IA pode estar incorreto.">
            <a:extLst>
              <a:ext uri="{FF2B5EF4-FFF2-40B4-BE49-F238E27FC236}">
                <a16:creationId xmlns:a16="http://schemas.microsoft.com/office/drawing/2014/main" id="{0540774A-0394-2618-9F74-77D7DB114129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D515242-4938-2CA3-7D6C-2A412101D4D6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C7C48558-189E-241B-1947-241F8267521E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6011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bject8">
            <a:extLst>
              <a:ext uri="{FF2B5EF4-FFF2-40B4-BE49-F238E27FC236}">
                <a16:creationId xmlns:a16="http://schemas.microsoft.com/office/drawing/2014/main" id="{595057CF-3E0D-4B33-AEE5-A0C63BA2282E}"/>
              </a:ext>
            </a:extLst>
          </p:cNvPr>
          <p:cNvSpPr/>
          <p:nvPr/>
        </p:nvSpPr>
        <p:spPr>
          <a:xfrm>
            <a:off x="4929189" y="1153309"/>
            <a:ext cx="3738563" cy="3287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650"/>
              </a:lnSpc>
              <a:spcAft>
                <a:spcPts val="400"/>
              </a:spcAft>
            </a:pPr>
            <a:r>
              <a:rPr lang="pt-BR" sz="900" kern="0" spc="9" dirty="0">
                <a:solidFill>
                  <a:srgbClr val="323C32"/>
                </a:solidFill>
                <a:latin typeface="Nunito Regular" pitchFamily="34" charset="0"/>
              </a:rPr>
              <a:t>O IPCA-15 de agosto apresentou deflação de 0,14%, abaixo da mediana das projeções do mercado (-0,20%) e da nossa estimativa (-0,19%). A desaceleração do índice foi influenciada por quedas em alimentação no domicílio, que recuou 1,02%, e etanol, com queda de 1,98%. Esses movimentos contribuíram para a leitura mais benigna do mês.</a:t>
            </a:r>
          </a:p>
          <a:p>
            <a:pPr algn="just">
              <a:lnSpc>
                <a:spcPts val="1650"/>
              </a:lnSpc>
              <a:spcAft>
                <a:spcPts val="400"/>
              </a:spcAft>
            </a:pPr>
            <a:r>
              <a:rPr lang="pt-BR" sz="900" kern="0" spc="9" dirty="0">
                <a:solidFill>
                  <a:srgbClr val="323C32"/>
                </a:solidFill>
                <a:latin typeface="Nunito Regular" pitchFamily="34" charset="0"/>
              </a:rPr>
              <a:t>Apesar da retração no índice cheio, a composição do IPCA-15 manteve um viés misto, refletindo tanto alívios quanto pressões pontuais. Entre os destaques de alta, sobressaem os grupos de higiene pessoal (1,07%) e educação, com cursos regulares e diversos registrando alta de 0,93%. Também houve avanço em itens relacionados à habitação, como aluguel residencial (0,29%) e condomínio (0,31%).</a:t>
            </a:r>
          </a:p>
          <a:p>
            <a:pPr algn="just">
              <a:lnSpc>
                <a:spcPts val="1650"/>
              </a:lnSpc>
              <a:spcAft>
                <a:spcPts val="400"/>
              </a:spcAft>
            </a:pPr>
            <a:r>
              <a:rPr lang="pt-BR" sz="900" kern="0" spc="9" dirty="0">
                <a:solidFill>
                  <a:srgbClr val="323C32"/>
                </a:solidFill>
                <a:latin typeface="Nunito Regular" pitchFamily="34" charset="0"/>
              </a:rPr>
              <a:t>Dada essa leitura, nossa projeção para o IPCA final de 2025 foi ajustada para 4,7%.</a:t>
            </a:r>
            <a:endParaRPr lang="pt-BR" sz="675" kern="0" spc="9" dirty="0">
              <a:solidFill>
                <a:srgbClr val="323C32"/>
              </a:solidFill>
              <a:latin typeface="Nunito Regular" pitchFamily="34" charset="0"/>
            </a:endParaRPr>
          </a:p>
        </p:txBody>
      </p:sp>
      <p:pic>
        <p:nvPicPr>
          <p:cNvPr id="6" name="Object 4" descr="preencoded.png">
            <a:extLst>
              <a:ext uri="{FF2B5EF4-FFF2-40B4-BE49-F238E27FC236}">
                <a16:creationId xmlns:a16="http://schemas.microsoft.com/office/drawing/2014/main" id="{346F5B82-4EFC-EBB9-E467-E4EF5708E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5750" y="362331"/>
            <a:ext cx="381000" cy="381000"/>
          </a:xfrm>
          <a:prstGeom prst="rect">
            <a:avLst/>
          </a:prstGeom>
        </p:spPr>
      </p:pic>
      <p:sp>
        <p:nvSpPr>
          <p:cNvPr id="16" name="Object7">
            <a:extLst>
              <a:ext uri="{FF2B5EF4-FFF2-40B4-BE49-F238E27FC236}">
                <a16:creationId xmlns:a16="http://schemas.microsoft.com/office/drawing/2014/main" id="{ADB97160-1C4C-F79E-AD1D-D1575380E625}"/>
              </a:ext>
            </a:extLst>
          </p:cNvPr>
          <p:cNvSpPr/>
          <p:nvPr/>
        </p:nvSpPr>
        <p:spPr>
          <a:xfrm>
            <a:off x="421307" y="480633"/>
            <a:ext cx="83242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Inflação arrefece em agosto...</a:t>
            </a:r>
          </a:p>
        </p:txBody>
      </p:sp>
      <p:sp>
        <p:nvSpPr>
          <p:cNvPr id="11" name="Object9">
            <a:extLst>
              <a:ext uri="{FF2B5EF4-FFF2-40B4-BE49-F238E27FC236}">
                <a16:creationId xmlns:a16="http://schemas.microsoft.com/office/drawing/2014/main" id="{696BB36E-60CE-746C-BB58-FC3FCA0FA7B2}"/>
              </a:ext>
            </a:extLst>
          </p:cNvPr>
          <p:cNvSpPr/>
          <p:nvPr/>
        </p:nvSpPr>
        <p:spPr>
          <a:xfrm>
            <a:off x="2141684" y="3915760"/>
            <a:ext cx="2441762" cy="71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713"/>
              </a:lnSpc>
            </a:pPr>
            <a:r>
              <a:rPr lang="en-US" sz="700" i="1">
                <a:solidFill>
                  <a:srgbClr val="828A82"/>
                </a:solidFill>
                <a:latin typeface="Exo 2 Italic" pitchFamily="34" charset="0"/>
                <a:ea typeface="Exo 2 Italic" pitchFamily="34" charset="-122"/>
                <a:cs typeface="Exo 2 Italic" pitchFamily="34" charset="-120"/>
              </a:rPr>
              <a:t>Fonte: Bloomberg, </a:t>
            </a:r>
            <a:r>
              <a:rPr lang="en-US" sz="700" i="1" err="1">
                <a:solidFill>
                  <a:srgbClr val="828A82"/>
                </a:solidFill>
                <a:latin typeface="Exo 2 Italic" pitchFamily="34" charset="0"/>
                <a:ea typeface="Exo 2 Italic" pitchFamily="34" charset="-122"/>
                <a:cs typeface="Exo 2 Italic" pitchFamily="34" charset="-120"/>
              </a:rPr>
              <a:t>Sicredi</a:t>
            </a:r>
            <a:r>
              <a:rPr lang="en-US" sz="700" i="1">
                <a:solidFill>
                  <a:srgbClr val="828A82"/>
                </a:solidFill>
                <a:latin typeface="Exo 2 Italic" pitchFamily="34" charset="0"/>
                <a:ea typeface="Exo 2 Italic" pitchFamily="34" charset="-122"/>
                <a:cs typeface="Exo 2 Italic" pitchFamily="34" charset="-120"/>
              </a:rPr>
              <a:t> Asset Management</a:t>
            </a:r>
            <a:endParaRPr lang="en-US" sz="7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2528EB7-B77F-4DE9-190F-4527CB52F2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48" y="1296194"/>
            <a:ext cx="4257169" cy="2551113"/>
          </a:xfrm>
          <a:prstGeom prst="rect">
            <a:avLst/>
          </a:prstGeom>
        </p:spPr>
      </p:pic>
      <p:sp>
        <p:nvSpPr>
          <p:cNvPr id="5" name="Rectangle 13">
            <a:extLst>
              <a:ext uri="{FF2B5EF4-FFF2-40B4-BE49-F238E27FC236}">
                <a16:creationId xmlns:a16="http://schemas.microsoft.com/office/drawing/2014/main" id="{973CE4E3-B695-CA34-D0D8-BCCF95BA3E58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8" name="Imagem 7" descr="Forma&#10;&#10;O conteúdo gerado por IA pode estar incorreto.">
            <a:extLst>
              <a:ext uri="{FF2B5EF4-FFF2-40B4-BE49-F238E27FC236}">
                <a16:creationId xmlns:a16="http://schemas.microsoft.com/office/drawing/2014/main" id="{24B061E4-6716-0974-6B68-F0E5D6D2E52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C1B3609-903D-5986-A46C-0CCDC2A04C29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>
            <a:extLst>
              <a:ext uri="{FF2B5EF4-FFF2-40B4-BE49-F238E27FC236}">
                <a16:creationId xmlns:a16="http://schemas.microsoft.com/office/drawing/2014/main" id="{C1F09CD8-58BF-C3A7-A705-9C57A72E3D21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144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 descr="preencoded.png">
            <a:extLst>
              <a:ext uri="{FF2B5EF4-FFF2-40B4-BE49-F238E27FC236}">
                <a16:creationId xmlns:a16="http://schemas.microsoft.com/office/drawing/2014/main" id="{D8D287E2-6327-336D-7989-F74C930B4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85750" y="362331"/>
            <a:ext cx="381000" cy="381000"/>
          </a:xfrm>
          <a:prstGeom prst="rect">
            <a:avLst/>
          </a:prstGeom>
        </p:spPr>
      </p:pic>
      <p:sp>
        <p:nvSpPr>
          <p:cNvPr id="4" name="Object7">
            <a:extLst>
              <a:ext uri="{FF2B5EF4-FFF2-40B4-BE49-F238E27FC236}">
                <a16:creationId xmlns:a16="http://schemas.microsoft.com/office/drawing/2014/main" id="{7F080026-EF0C-1BA5-06AE-EFE99669ABD6}"/>
              </a:ext>
            </a:extLst>
          </p:cNvPr>
          <p:cNvSpPr/>
          <p:nvPr/>
        </p:nvSpPr>
        <p:spPr>
          <a:xfrm>
            <a:off x="421307" y="480633"/>
            <a:ext cx="83242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13"/>
              </a:lnSpc>
            </a:pPr>
            <a:r>
              <a:rPr lang="pt-BR" sz="2200" b="1" i="1" dirty="0">
                <a:solidFill>
                  <a:srgbClr val="0A4B1E"/>
                </a:solidFill>
                <a:latin typeface="Exo 2.0" panose="00000500000000000000" pitchFamily="50" charset="0"/>
                <a:ea typeface="Exo 2 Light Italic" pitchFamily="34" charset="-122"/>
                <a:cs typeface="Exo 2 Light Italic" pitchFamily="34" charset="-120"/>
              </a:rPr>
              <a:t>Cenário Prospectivo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2E540EF-B83A-212C-4D11-411B76DCA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529" y="1334811"/>
            <a:ext cx="4614576" cy="247387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2B867D0-5338-C281-2AA5-96EF4C4CD6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6529" y="1334811"/>
            <a:ext cx="4614576" cy="247387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11DB010-A421-837B-75C7-2E30CC8C06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6529" y="1334810"/>
            <a:ext cx="4614576" cy="2473879"/>
          </a:xfrm>
          <a:prstGeom prst="rect">
            <a:avLst/>
          </a:prstGeom>
        </p:spPr>
      </p:pic>
      <p:sp>
        <p:nvSpPr>
          <p:cNvPr id="9" name="Rectangle 13">
            <a:extLst>
              <a:ext uri="{FF2B5EF4-FFF2-40B4-BE49-F238E27FC236}">
                <a16:creationId xmlns:a16="http://schemas.microsoft.com/office/drawing/2014/main" id="{9A897985-A028-624D-2A11-F13CD3CCDE09}"/>
              </a:ext>
            </a:extLst>
          </p:cNvPr>
          <p:cNvSpPr/>
          <p:nvPr/>
        </p:nvSpPr>
        <p:spPr>
          <a:xfrm>
            <a:off x="3396344" y="4887630"/>
            <a:ext cx="2413190" cy="2558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18388FF8-6921-DCCB-4FC3-E2AE7504F92C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77261" y="4879161"/>
            <a:ext cx="1521084" cy="246910"/>
          </a:xfrm>
          <a:prstGeom prst="rect">
            <a:avLst/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7F85291-3D08-48DD-D598-38574B248BEF}"/>
              </a:ext>
            </a:extLst>
          </p:cNvPr>
          <p:cNvCxnSpPr>
            <a:cxnSpLocks/>
          </p:cNvCxnSpPr>
          <p:nvPr/>
        </p:nvCxnSpPr>
        <p:spPr>
          <a:xfrm flipV="1">
            <a:off x="219075" y="4835977"/>
            <a:ext cx="8779270" cy="151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tângulo 12">
            <a:extLst>
              <a:ext uri="{FF2B5EF4-FFF2-40B4-BE49-F238E27FC236}">
                <a16:creationId xmlns:a16="http://schemas.microsoft.com/office/drawing/2014/main" id="{F3E3246F-9A4C-26ED-026D-6B3AD9B81B9B}"/>
              </a:ext>
            </a:extLst>
          </p:cNvPr>
          <p:cNvSpPr/>
          <p:nvPr/>
        </p:nvSpPr>
        <p:spPr>
          <a:xfrm>
            <a:off x="8550278" y="4820420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6702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6103C-CE0B-69AB-A4FB-4484FEA7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EB64C51E-6A6E-B995-8856-141D3663F89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A167B17C-4DAE-61B3-6B6E-D1425E240C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A3982A-4905-78AB-641D-9263BE61F7AA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52130D9D-6F35-CBEF-0141-8C81F6711A19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References – </a:t>
            </a:r>
            <a:r>
              <a:rPr lang="en-US" sz="4000" dirty="0" err="1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Instiucional</a:t>
            </a:r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 design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6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45656-40E8-1198-90EF-4DCC19EB0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5F31F62C-E1A3-A3A5-47C8-21D1CAAF45F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708E04B7-0270-B18D-7A12-5C67F6003E1D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3755E-7CBC-C217-063A-E8624445B006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2E1962E-54CD-37F7-0EFA-1BB6A14C6CAE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m 15">
            <a:extLst>
              <a:ext uri="{FF2B5EF4-FFF2-40B4-BE49-F238E27FC236}">
                <a16:creationId xmlns:a16="http://schemas.microsoft.com/office/drawing/2014/main" id="{9D49D0E0-241A-A594-AD3A-F687EEA236E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64C832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5626308" y="1328775"/>
            <a:ext cx="3206774" cy="542591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05C6E66-D0F1-CAA6-3A62-40C8BB41B6D8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Object3">
            <a:extLst>
              <a:ext uri="{FF2B5EF4-FFF2-40B4-BE49-F238E27FC236}">
                <a16:creationId xmlns:a16="http://schemas.microsoft.com/office/drawing/2014/main" id="{7BA7D7D8-D0D4-0C76-6B55-739964FFDB17}"/>
              </a:ext>
            </a:extLst>
          </p:cNvPr>
          <p:cNvSpPr/>
          <p:nvPr/>
        </p:nvSpPr>
        <p:spPr>
          <a:xfrm>
            <a:off x="584335" y="4367358"/>
            <a:ext cx="6086849" cy="78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 err="1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Outubro</a:t>
            </a:r>
            <a:r>
              <a:rPr lang="en-US" sz="1400" dirty="0">
                <a:solidFill>
                  <a:srgbClr val="FFFFFF"/>
                </a:solidFill>
                <a:latin typeface="Exo 2 Light" pitchFamily="2" charset="0"/>
                <a:ea typeface="Exo 2 ExtraLight Italic" pitchFamily="34" charset="-122"/>
              </a:rPr>
              <a:t>/2025</a:t>
            </a:r>
            <a:endParaRPr lang="en-US" sz="1400" dirty="0">
              <a:solidFill>
                <a:srgbClr val="FFFFFF"/>
              </a:solidFill>
              <a:latin typeface="Exo 2 Bold Italic" pitchFamily="2" charset="0"/>
            </a:endParaRPr>
          </a:p>
        </p:txBody>
      </p:sp>
      <p:pic>
        <p:nvPicPr>
          <p:cNvPr id="29" name="Imagem 28" descr="Forma&#10;&#10;O conteúdo gerado por IA pode estar incorreto.">
            <a:extLst>
              <a:ext uri="{FF2B5EF4-FFF2-40B4-BE49-F238E27FC236}">
                <a16:creationId xmlns:a16="http://schemas.microsoft.com/office/drawing/2014/main" id="{CFB27F40-B1EA-48DF-3D8F-823C07810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5" y="662152"/>
            <a:ext cx="3990038" cy="1048050"/>
          </a:xfrm>
          <a:prstGeom prst="rect">
            <a:avLst/>
          </a:prstGeom>
        </p:spPr>
      </p:pic>
      <p:pic>
        <p:nvPicPr>
          <p:cNvPr id="33" name="Imagem 32" descr="Texto&#10;&#10;O conteúdo gerado por IA pode estar incorreto.">
            <a:extLst>
              <a:ext uri="{FF2B5EF4-FFF2-40B4-BE49-F238E27FC236}">
                <a16:creationId xmlns:a16="http://schemas.microsoft.com/office/drawing/2014/main" id="{4786845B-6380-B134-FCA0-41460C956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818" y="150185"/>
            <a:ext cx="3206774" cy="542591"/>
          </a:xfrm>
          <a:prstGeom prst="rect">
            <a:avLst/>
          </a:prstGeom>
        </p:spPr>
      </p:pic>
      <p:pic>
        <p:nvPicPr>
          <p:cNvPr id="34" name="Imagem 33" descr="Texto&#10;&#10;O conteúdo gerado por IA pode estar incorreto.">
            <a:extLst>
              <a:ext uri="{FF2B5EF4-FFF2-40B4-BE49-F238E27FC236}">
                <a16:creationId xmlns:a16="http://schemas.microsoft.com/office/drawing/2014/main" id="{5DB6B3D7-DEC7-19B0-31E6-19A39FC52B2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579782" y="528740"/>
            <a:ext cx="3206774" cy="542591"/>
          </a:xfrm>
          <a:prstGeom prst="rect">
            <a:avLst/>
          </a:prstGeom>
        </p:spPr>
      </p:pic>
      <p:pic>
        <p:nvPicPr>
          <p:cNvPr id="35" name="Imagem 34" descr="Forma&#10;&#10;O conteúdo gerado por IA pode estar incorreto.">
            <a:extLst>
              <a:ext uri="{FF2B5EF4-FFF2-40B4-BE49-F238E27FC236}">
                <a16:creationId xmlns:a16="http://schemas.microsoft.com/office/drawing/2014/main" id="{0DFBCBF8-BA0F-020C-1B29-F97899A5F2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0351" y="915621"/>
            <a:ext cx="3042168" cy="493819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A5468EBA-1C9D-AE03-BDE0-8FAE65FC6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821" y="2266850"/>
            <a:ext cx="4224179" cy="172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63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291E4-7641-94DC-F100-250B85E3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640CA363-DC48-3D91-C29B-D03941339F2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FE95DADB-249C-A98E-D96B-51F6BE57D9DF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C3523F-EF98-41C0-6F36-68F359CB1B44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7BC82CF-87C3-60F0-5D06-09A1824DB412}"/>
              </a:ext>
            </a:extLst>
          </p:cNvPr>
          <p:cNvCxnSpPr>
            <a:cxnSpLocks/>
          </p:cNvCxnSpPr>
          <p:nvPr/>
        </p:nvCxnSpPr>
        <p:spPr>
          <a:xfrm>
            <a:off x="620751" y="2400393"/>
            <a:ext cx="4456465" cy="276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D95E6CC6-E82A-CB43-F54B-C46588B5E893}"/>
              </a:ext>
            </a:extLst>
          </p:cNvPr>
          <p:cNvSpPr/>
          <p:nvPr/>
        </p:nvSpPr>
        <p:spPr>
          <a:xfrm>
            <a:off x="4629149" y="2387602"/>
            <a:ext cx="45085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0179CAC4-80B6-DF16-00C0-27127A4DAFB6}"/>
              </a:ext>
            </a:extLst>
          </p:cNvPr>
          <p:cNvCxnSpPr>
            <a:cxnSpLocks/>
          </p:cNvCxnSpPr>
          <p:nvPr/>
        </p:nvCxnSpPr>
        <p:spPr>
          <a:xfrm flipV="1">
            <a:off x="620751" y="2614549"/>
            <a:ext cx="4453682" cy="7709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2017FB85-343D-25C3-DE84-0DA6D7A26DF4}"/>
              </a:ext>
            </a:extLst>
          </p:cNvPr>
          <p:cNvSpPr/>
          <p:nvPr/>
        </p:nvSpPr>
        <p:spPr>
          <a:xfrm>
            <a:off x="4626366" y="2598992"/>
            <a:ext cx="45085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891985E-A441-D5FE-C562-0BFEA09F2D3F}"/>
              </a:ext>
            </a:extLst>
          </p:cNvPr>
          <p:cNvCxnSpPr>
            <a:cxnSpLocks/>
          </p:cNvCxnSpPr>
          <p:nvPr/>
        </p:nvCxnSpPr>
        <p:spPr>
          <a:xfrm flipV="1">
            <a:off x="620751" y="2845018"/>
            <a:ext cx="4453682" cy="2443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ângulo 11">
            <a:extLst>
              <a:ext uri="{FF2B5EF4-FFF2-40B4-BE49-F238E27FC236}">
                <a16:creationId xmlns:a16="http://schemas.microsoft.com/office/drawing/2014/main" id="{B8B247BD-9252-F320-F7D4-1E0B8EAD1F7A}"/>
              </a:ext>
            </a:extLst>
          </p:cNvPr>
          <p:cNvSpPr/>
          <p:nvPr/>
        </p:nvSpPr>
        <p:spPr>
          <a:xfrm>
            <a:off x="3513846" y="2829461"/>
            <a:ext cx="1566000" cy="1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DBDBCCB9-6BD0-2EAA-7F95-273C61CFC876}"/>
              </a:ext>
            </a:extLst>
          </p:cNvPr>
          <p:cNvCxnSpPr>
            <a:cxnSpLocks/>
          </p:cNvCxnSpPr>
          <p:nvPr/>
        </p:nvCxnSpPr>
        <p:spPr>
          <a:xfrm flipV="1">
            <a:off x="620751" y="3061674"/>
            <a:ext cx="4453682" cy="244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52A2A029-1856-79B7-D82B-03C3BA6A9A1C}"/>
              </a:ext>
            </a:extLst>
          </p:cNvPr>
          <p:cNvSpPr/>
          <p:nvPr/>
        </p:nvSpPr>
        <p:spPr>
          <a:xfrm>
            <a:off x="3513846" y="3046117"/>
            <a:ext cx="1566000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47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BAD1-6FD8-A895-2D19-2341E49E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784F115-B539-E429-DA14-084A5CDF228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sp>
        <p:nvSpPr>
          <p:cNvPr id="5" name="Object4">
            <a:extLst>
              <a:ext uri="{FF2B5EF4-FFF2-40B4-BE49-F238E27FC236}">
                <a16:creationId xmlns:a16="http://schemas.microsoft.com/office/drawing/2014/main" id="{C732F3FF-5649-8C22-D24F-490522C0470B}"/>
              </a:ext>
            </a:extLst>
          </p:cNvPr>
          <p:cNvSpPr/>
          <p:nvPr/>
        </p:nvSpPr>
        <p:spPr>
          <a:xfrm>
            <a:off x="572473" y="3249051"/>
            <a:ext cx="2146812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200">
              <a:lnSpc>
                <a:spcPts val="2888"/>
              </a:lnSpc>
              <a:defRPr/>
            </a:pPr>
            <a:endParaRPr lang="en-US" sz="2400" dirty="0">
              <a:solidFill>
                <a:srgbClr val="64C832"/>
              </a:solidFill>
              <a:latin typeface="Exo 2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B53E78-3183-1BF9-AB7B-4422D95531B8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6430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1112-D6BB-97E1-95DF-F6385C88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6B5ACFF8-8722-3CD0-FA89-BDC38EB216A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75">
              <a:solidFill>
                <a:srgbClr val="323C32"/>
              </a:solidFill>
              <a:latin typeface="Calibri" panose="020F0502020204030204"/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1745C553-6490-6B2F-8133-78DFA0B745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8722519" cy="47220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4EEADB-1FB0-3AA3-A50E-D1DB62F168E6}"/>
              </a:ext>
            </a:extLst>
          </p:cNvPr>
          <p:cNvSpPr/>
          <p:nvPr/>
        </p:nvSpPr>
        <p:spPr>
          <a:xfrm>
            <a:off x="3732756" y="4887630"/>
            <a:ext cx="1622121" cy="255870"/>
          </a:xfrm>
          <a:prstGeom prst="rect">
            <a:avLst/>
          </a:prstGeom>
          <a:solidFill>
            <a:srgbClr val="323C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pt-BR" sz="9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Object3">
            <a:extLst>
              <a:ext uri="{FF2B5EF4-FFF2-40B4-BE49-F238E27FC236}">
                <a16:creationId xmlns:a16="http://schemas.microsoft.com/office/drawing/2014/main" id="{6A4CFADC-E422-B408-82BE-DC89709D3325}"/>
              </a:ext>
            </a:extLst>
          </p:cNvPr>
          <p:cNvSpPr/>
          <p:nvPr/>
        </p:nvSpPr>
        <p:spPr>
          <a:xfrm>
            <a:off x="586843" y="1726753"/>
            <a:ext cx="6086849" cy="191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4000" dirty="0">
                <a:solidFill>
                  <a:srgbClr val="FFFFFF"/>
                </a:solidFill>
                <a:latin typeface="Exo 2.0" panose="00000500000000000000" pitchFamily="50" charset="0"/>
                <a:ea typeface="Exo 2 ExtraLight Italic" pitchFamily="34" charset="-122"/>
              </a:rPr>
              <a:t>References – External Samples</a:t>
            </a:r>
            <a:endParaRPr lang="en-US" sz="4000" dirty="0">
              <a:solidFill>
                <a:srgbClr val="FFFFFF"/>
              </a:solidFill>
              <a:latin typeface="Exo 2.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40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FAA25-ED13-6747-41C8-0D1BBFBF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31C9ED-57EB-BD7F-1E00-E7B6C816F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CE0D2D-385D-C05E-505F-0793EF276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878" y="1078498"/>
            <a:ext cx="5244245" cy="298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42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C63C1-F906-BB2B-5712-A91AEC19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673ABD-B365-19A8-EBC6-3831B75BE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DA0E4E-9BC6-F643-989D-51B98F53F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733" y="1073735"/>
            <a:ext cx="5258534" cy="29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78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70E6D-D6A3-357F-3F9D-6AE58B0C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8D2791-C1CF-C207-6098-9C7AAF047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54EB2D-8A6D-C453-D952-01B1F87C6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312" y="1045156"/>
            <a:ext cx="5201376" cy="305318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579B9B6-6596-3E42-D61C-E67F517EF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496" y="1095169"/>
            <a:ext cx="5249008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28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991928B-3838-9490-93A5-ABA36E6A4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207" y="1080880"/>
            <a:ext cx="5277587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226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20EFD28-9D31-8878-C3C8-0D1B2F261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65" y="1073735"/>
            <a:ext cx="5344271" cy="29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787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E5AF6-4425-160B-4853-844B3C26A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4345CE-3E10-04A8-5544-DE422F891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7560BC-C66E-4551-7A61-68683D2D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207" y="1076116"/>
            <a:ext cx="5277587" cy="299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68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C6890-5C5C-9BF7-778F-5533CBC0D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76E6A2-20FA-E5E1-BE61-3D00EE977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31A2B1-EAFD-28B7-BE6B-9D1F197A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825" y="1068972"/>
            <a:ext cx="5282350" cy="300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02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5FE8AE-713F-AA15-AFAA-FFB21A138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A95ED1-49F1-70F4-0055-AF2E406B6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FF19A62-0878-DFCB-08D6-984E44E55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917" y="1049919"/>
            <a:ext cx="5306166" cy="304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06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85092-DBD8-BE48-A77C-65E719DBE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FA1F42-D7C0-3102-6DFA-62177E7EB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E31897-2FE2-95AC-1113-9923D8FB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46" y="1054682"/>
            <a:ext cx="5339508" cy="303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06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AF1FF5-D6C6-3C73-2981-93EABBDD5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B5A180-2050-F6A2-E974-79352E47B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345E62-4ECF-2E6B-F30E-D429BF5F7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246" y="1047537"/>
            <a:ext cx="5339508" cy="304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06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C7538-D39C-5679-E974-F0615302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C4AD56-FC1E-B102-A5C8-863EF0BFC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7A8D30-DD5A-1C1F-0AD3-23A6BEC72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680" y="528352"/>
            <a:ext cx="6382641" cy="408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13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961FC-A43D-6491-20FB-D76F2E94F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642D00-24F7-5C1D-3A25-BFAA145A4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541AF8-EC7D-D995-4642-7C13993AE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009" y="390221"/>
            <a:ext cx="6415983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66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BC5EA-3ECD-A0A1-216F-4624ADBA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BD13EB-C3B0-40AE-A31A-D8CF4DCC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4F942A-1AA1-43BA-AD5A-31AA3C722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969" y="764129"/>
            <a:ext cx="6354062" cy="361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48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F53F05-BB16-8624-5423-516BD87E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2AB90F-5FA7-7991-1D80-E7A4235DC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4FE9AA-A284-3F08-55BD-E43C426EF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917" y="535497"/>
            <a:ext cx="6392167" cy="407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07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1247C-DB81-4148-FC27-B501BD07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A308FC-A141-FC54-C0A7-2FB315223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35C2349-2949-A105-96DD-A6C58A228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298" y="468813"/>
            <a:ext cx="6387404" cy="420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33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9E64F1-4D99-711C-4E52-8ECECEDA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A4B999-A71E-AE06-11A8-17544567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E429B5-ED12-9959-6AA9-3DE2A5A7A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905" y="1245209"/>
            <a:ext cx="4682191" cy="265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61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CCFE5-C3B9-CDC1-1937-E47F1335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5AFF8A-BDC3-E951-2C8F-145A0E099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AE88FB-CE12-D726-4DC2-A18CF1091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6" y="318773"/>
            <a:ext cx="6001588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179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57FFF-9480-1012-8AE6-7AD65B33F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BE0F63-8BD5-8C5F-6C07-D204CE42F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51A6D3-FE61-E4A7-2B5D-E1E8AAFC4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98" y="554550"/>
            <a:ext cx="7111405" cy="40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29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F149A-4009-4B32-50DE-EFD8B8DCF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9A877A-AB1A-0438-47B2-50AF94DDE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AAC783-1B4D-3274-FBD9-A39DB877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92" y="549787"/>
            <a:ext cx="7187616" cy="404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47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49F9C-6435-BC09-02DA-916AA090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7E2F2F-45A6-E9FB-4ED2-CD0AA41FF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477B05-755E-6BF0-2A50-98BF0A203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3" y="542642"/>
            <a:ext cx="7154274" cy="405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76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E8CF3-C4D5-0ED4-50E6-072929A5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B8F8C0-C5A3-739A-D09C-7621E5FA1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9FB4A3F-512E-2813-3EB6-C6CD04038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56" y="559313"/>
            <a:ext cx="7178089" cy="402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5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c1040d6f-6df0-48f4-90be-fc7e0d5f7387">
      <UserInfo>
        <DisplayName>Andry Signor Rodrigues</DisplayName>
        <AccountId>5452</AccountId>
        <AccountType/>
      </UserInfo>
      <UserInfo>
        <DisplayName>Flavio Vinicius Cunha de Souza</DisplayName>
        <AccountId>18257</AccountId>
        <AccountType/>
      </UserInfo>
    </SharedWithUsers>
    <_activity xmlns="40709f42-17df-49e3-b81c-3929c943213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7259A7A22B534788E615949D7B0D06" ma:contentTypeVersion="20" ma:contentTypeDescription="Create a new document." ma:contentTypeScope="" ma:versionID="aa1fffa6a255e0a0d0984d26ca7ee71b">
  <xsd:schema xmlns:xsd="http://www.w3.org/2001/XMLSchema" xmlns:xs="http://www.w3.org/2001/XMLSchema" xmlns:p="http://schemas.microsoft.com/office/2006/metadata/properties" xmlns:ns1="http://schemas.microsoft.com/sharepoint/v3" xmlns:ns3="c1040d6f-6df0-48f4-90be-fc7e0d5f7387" xmlns:ns4="40709f42-17df-49e3-b81c-3929c9432136" targetNamespace="http://schemas.microsoft.com/office/2006/metadata/properties" ma:root="true" ma:fieldsID="6accdc3152a4cb335bf1a03d69ef2121" ns1:_="" ns3:_="" ns4:_="">
    <xsd:import namespace="http://schemas.microsoft.com/sharepoint/v3"/>
    <xsd:import namespace="c1040d6f-6df0-48f4-90be-fc7e0d5f7387"/>
    <xsd:import namespace="40709f42-17df-49e3-b81c-3929c943213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040d6f-6df0-48f4-90be-fc7e0d5f73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09f42-17df-49e3-b81c-3929c94321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951898-0CD6-44DE-B7D7-0F3A510E81F9}">
  <ds:schemaRefs>
    <ds:schemaRef ds:uri="http://schemas.microsoft.com/office/2006/metadata/properties"/>
    <ds:schemaRef ds:uri="40709f42-17df-49e3-b81c-3929c9432136"/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c1040d6f-6df0-48f4-90be-fc7e0d5f7387"/>
    <ds:schemaRef ds:uri="http://schemas.microsoft.com/office/infopath/2007/PartnerControls"/>
    <ds:schemaRef ds:uri="http://schemas.microsoft.com/sharepoint/v3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F11F681-EAA0-44E4-9BDD-71A8CB3E07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D4ACF7-63BA-401D-976E-1373E11EEB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1040d6f-6df0-48f4-90be-fc7e0d5f7387"/>
    <ds:schemaRef ds:uri="40709f42-17df-49e3-b81c-3929c94321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3408</TotalTime>
  <Words>1113</Words>
  <Application>Microsoft Office PowerPoint</Application>
  <PresentationFormat>Apresentação na tela (16:9)</PresentationFormat>
  <Paragraphs>259</Paragraphs>
  <Slides>45</Slides>
  <Notes>24</Notes>
  <HiddenSlides>0</HiddenSlides>
  <MMClips>0</MMClips>
  <ScaleCrop>false</ScaleCrop>
  <HeadingPairs>
    <vt:vector size="8" baseType="variant">
      <vt:variant>
        <vt:lpstr>Fontes usadas</vt:lpstr>
      </vt:variant>
      <vt:variant>
        <vt:i4>19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66" baseType="lpstr">
      <vt:lpstr>Exo 2 Light</vt:lpstr>
      <vt:lpstr>Aptos Display</vt:lpstr>
      <vt:lpstr>Calibri  </vt:lpstr>
      <vt:lpstr>Exo 2.0 Extra Bold</vt:lpstr>
      <vt:lpstr>Nunito Regular</vt:lpstr>
      <vt:lpstr>Wingdings</vt:lpstr>
      <vt:lpstr>Exo 2.0 Light</vt:lpstr>
      <vt:lpstr>Calibri</vt:lpstr>
      <vt:lpstr>Calibri Light</vt:lpstr>
      <vt:lpstr>Exo 2</vt:lpstr>
      <vt:lpstr>Nunito Light</vt:lpstr>
      <vt:lpstr>Titillium Web</vt:lpstr>
      <vt:lpstr>Exo 2 Italic</vt:lpstr>
      <vt:lpstr>Nunito Black</vt:lpstr>
      <vt:lpstr>Exo 2 Bold Italic</vt:lpstr>
      <vt:lpstr>Exo 2 Light Italic</vt:lpstr>
      <vt:lpstr>Arial</vt:lpstr>
      <vt:lpstr>Nunito</vt:lpstr>
      <vt:lpstr>Exo 2.0</vt:lpstr>
      <vt:lpstr>1_Office Theme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Alejandro Oliver</dc:creator>
  <cp:lastModifiedBy>Andre da Rocha Trierveiler</cp:lastModifiedBy>
  <cp:revision>15</cp:revision>
  <cp:lastPrinted>2023-07-21T19:31:15Z</cp:lastPrinted>
  <dcterms:created xsi:type="dcterms:W3CDTF">2016-11-09T17:04:02Z</dcterms:created>
  <dcterms:modified xsi:type="dcterms:W3CDTF">2025-10-22T03:23:09Z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deea41-824f-4c3c-afd5-7afdfc16eee8_Enabled">
    <vt:lpwstr>true</vt:lpwstr>
  </property>
  <property fmtid="{D5CDD505-2E9C-101B-9397-08002B2CF9AE}" pid="3" name="MSIP_Label_99deea41-824f-4c3c-afd5-7afdfc16eee8_SetDate">
    <vt:lpwstr>2023-07-21T19:31:54Z</vt:lpwstr>
  </property>
  <property fmtid="{D5CDD505-2E9C-101B-9397-08002B2CF9AE}" pid="4" name="MSIP_Label_99deea41-824f-4c3c-afd5-7afdfc16eee8_Method">
    <vt:lpwstr>Standard</vt:lpwstr>
  </property>
  <property fmtid="{D5CDD505-2E9C-101B-9397-08002B2CF9AE}" pid="5" name="MSIP_Label_99deea41-824f-4c3c-afd5-7afdfc16eee8_Name">
    <vt:lpwstr>99deea41-824f-4c3c-afd5-7afdfc16eee8</vt:lpwstr>
  </property>
  <property fmtid="{D5CDD505-2E9C-101B-9397-08002B2CF9AE}" pid="6" name="MSIP_Label_99deea41-824f-4c3c-afd5-7afdfc16eee8_SiteId">
    <vt:lpwstr>3223964c-6e1f-48ba-b705-423351281a8c</vt:lpwstr>
  </property>
  <property fmtid="{D5CDD505-2E9C-101B-9397-08002B2CF9AE}" pid="7" name="MSIP_Label_99deea41-824f-4c3c-afd5-7afdfc16eee8_ActionId">
    <vt:lpwstr>7ad83fab-d2a4-46a1-87e8-d1b7502e1363</vt:lpwstr>
  </property>
  <property fmtid="{D5CDD505-2E9C-101B-9397-08002B2CF9AE}" pid="8" name="MSIP_Label_99deea41-824f-4c3c-afd5-7afdfc16eee8_ContentBits">
    <vt:lpwstr>2</vt:lpwstr>
  </property>
  <property fmtid="{D5CDD505-2E9C-101B-9397-08002B2CF9AE}" pid="9" name="ContentTypeId">
    <vt:lpwstr>0x010100EA7259A7A22B534788E615949D7B0D06</vt:lpwstr>
  </property>
  <property fmtid="{D5CDD505-2E9C-101B-9397-08002B2CF9AE}" pid="10" name="MediaServiceImageTags">
    <vt:lpwstr/>
  </property>
</Properties>
</file>